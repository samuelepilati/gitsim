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71" r:id="rId6"/>
    <p:sldMasterId id="2147483674" r:id="rId7"/>
  </p:sldMasterIdLst>
  <p:notesMasterIdLst>
    <p:notesMasterId r:id="rId31"/>
  </p:notesMasterIdLst>
  <p:handoutMasterIdLst>
    <p:handoutMasterId r:id="rId32"/>
  </p:handoutMasterIdLst>
  <p:sldIdLst>
    <p:sldId id="263" r:id="rId8"/>
    <p:sldId id="292" r:id="rId9"/>
    <p:sldId id="314" r:id="rId10"/>
    <p:sldId id="264" r:id="rId11"/>
    <p:sldId id="317" r:id="rId12"/>
    <p:sldId id="311" r:id="rId13"/>
    <p:sldId id="309" r:id="rId14"/>
    <p:sldId id="308" r:id="rId15"/>
    <p:sldId id="310" r:id="rId16"/>
    <p:sldId id="316" r:id="rId17"/>
    <p:sldId id="294" r:id="rId18"/>
    <p:sldId id="302" r:id="rId19"/>
    <p:sldId id="303" r:id="rId20"/>
    <p:sldId id="306" r:id="rId21"/>
    <p:sldId id="283" r:id="rId22"/>
    <p:sldId id="313" r:id="rId23"/>
    <p:sldId id="284" r:id="rId24"/>
    <p:sldId id="304" r:id="rId25"/>
    <p:sldId id="305" r:id="rId26"/>
    <p:sldId id="307" r:id="rId27"/>
    <p:sldId id="312" r:id="rId28"/>
    <p:sldId id="315" r:id="rId29"/>
    <p:sldId id="295" r:id="rId30"/>
  </p:sldIdLst>
  <p:sldSz cx="12192000" cy="6858000"/>
  <p:notesSz cx="6797675" cy="9928225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2B0B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35" autoAdjust="0"/>
    <p:restoredTop sz="91389" autoAdjust="0"/>
  </p:normalViewPr>
  <p:slideViewPr>
    <p:cSldViewPr showGuides="1">
      <p:cViewPr varScale="1">
        <p:scale>
          <a:sx n="95" d="100"/>
          <a:sy n="95" d="100"/>
        </p:scale>
        <p:origin x="581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theme" Target="theme/theme1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1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81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D58A08-A15A-4C04-BB8A-1EE48D0160CF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1" y="9430092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50444" y="9430092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BB7062-2C0D-46B7-9F71-552E63D1E68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2294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75467-8215-6642-8F14-F5800F1EB5F9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F200D-392B-604B-B6E1-E2EAEF3B82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028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B63F6-AF97-51B2-516B-66A74C778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5E877E5-80DC-4128-B1D6-32E3BA664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4B418B7-8D18-B61A-8307-D5B4B8069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412B60B-0A22-EEF7-ED4C-7CC97E6C8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F200D-392B-604B-B6E1-E2EAEF3B8268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7808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F200D-392B-604B-B6E1-E2EAEF3B8268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7942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B3195-65A2-7ACD-EF3A-F30F9D4F8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C267966-8261-39D7-E35F-22936ADE0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E074407-DBC7-9CFB-E8B1-E68814861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BF7F82D-10A1-2CF0-A38C-EBABF81BEE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F200D-392B-604B-B6E1-E2EAEF3B8268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1393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6C21D-47C7-45AB-FDC4-EF2DA6EDF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627F40E-B9E9-89FC-108C-CB8A094B9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4C89375-D9B6-5B58-247B-0818EF8AF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4349E69-A38A-3DB7-0721-D8DBBB6C2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F200D-392B-604B-B6E1-E2EAEF3B8268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216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B5F57-E632-81EA-D426-C60F0F8B0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989BCA9-B6C4-2C6A-5C3A-34AFA7E5B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C379122-B0AF-35EA-3413-2FDE85303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B5C4C5D-E6A8-B84C-4EF8-7EC93B0EEE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F200D-392B-604B-B6E1-E2EAEF3B8268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5511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392EC-B8EA-7108-18FA-D336FF1A6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07793A9-5168-DD61-80DD-96EABB2F5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B482DF9-7128-3B34-89CC-EEE42FDD1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9DEA00F-1E9E-A1D3-5CAC-C2A89E370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F200D-392B-604B-B6E1-E2EAEF3B8268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4282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A4949-0569-60C8-376F-5E79F5C83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B194E2D-88D5-E983-2F75-ECA222E6DB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7FA0329-E508-45ED-F413-139BFE49E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1F834F3-6169-D483-67B0-1EFA77431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F200D-392B-604B-B6E1-E2EAEF3B8268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4393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COPERT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sz="quarter" idx="10" hasCustomPrompt="1"/>
          </p:nvPr>
        </p:nvSpPr>
        <p:spPr>
          <a:xfrm>
            <a:off x="4751851" y="548680"/>
            <a:ext cx="6913364" cy="4536504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inserire </a:t>
            </a:r>
          </a:p>
          <a:p>
            <a:pPr lvl="0"/>
            <a:r>
              <a:rPr lang="it-IT" dirty="0"/>
              <a:t>il titolo della presentazione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1" hasCustomPrompt="1"/>
          </p:nvPr>
        </p:nvSpPr>
        <p:spPr>
          <a:xfrm>
            <a:off x="4751917" y="5379814"/>
            <a:ext cx="7008283" cy="42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Nome Cognome</a:t>
            </a:r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2" hasCustomPrompt="1"/>
          </p:nvPr>
        </p:nvSpPr>
        <p:spPr>
          <a:xfrm>
            <a:off x="4751918" y="5877942"/>
            <a:ext cx="7105649" cy="7914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Dipartimento/Struttura </a:t>
            </a:r>
            <a:r>
              <a:rPr lang="it-IT" dirty="0" err="1"/>
              <a:t>xxxxxx</a:t>
            </a:r>
            <a:r>
              <a:rPr lang="it-IT" dirty="0"/>
              <a:t> </a:t>
            </a:r>
            <a:r>
              <a:rPr lang="it-IT" dirty="0" err="1"/>
              <a:t>xxxxxxxxxxxx</a:t>
            </a:r>
            <a:r>
              <a:rPr lang="it-IT" dirty="0"/>
              <a:t> </a:t>
            </a:r>
            <a:r>
              <a:rPr lang="it-IT" dirty="0" err="1"/>
              <a:t>xxxxxxxx</a:t>
            </a:r>
            <a:r>
              <a:rPr lang="it-IT" dirty="0"/>
              <a:t> </a:t>
            </a:r>
            <a:r>
              <a:rPr lang="it-IT" dirty="0" err="1"/>
              <a:t>xxxxx</a:t>
            </a:r>
            <a:r>
              <a:rPr lang="it-IT" dirty="0"/>
              <a:t> </a:t>
            </a:r>
            <a:r>
              <a:rPr lang="it-IT" dirty="0" err="1"/>
              <a:t>xxxxxxxxxxxxxxxxxxx</a:t>
            </a:r>
            <a:r>
              <a:rPr lang="it-IT" dirty="0"/>
              <a:t> </a:t>
            </a:r>
            <a:r>
              <a:rPr lang="it-IT" dirty="0" err="1"/>
              <a:t>xxxxx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66725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punto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1" y="1412876"/>
            <a:ext cx="11233149" cy="43194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testo</a:t>
            </a:r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12" hasCustomPrompt="1"/>
          </p:nvPr>
        </p:nvSpPr>
        <p:spPr>
          <a:xfrm>
            <a:off x="527051" y="1989138"/>
            <a:ext cx="11233149" cy="3960812"/>
          </a:xfrm>
          <a:prstGeom prst="rect">
            <a:avLst/>
          </a:prstGeom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800" baseline="0">
                <a:latin typeface="Century Gothic" panose="020B0502020202020204" pitchFamily="34" charset="0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800">
                <a:latin typeface="Century Gothic" panose="020B0502020202020204" pitchFamily="34" charset="0"/>
              </a:defRPr>
            </a:lvl2pPr>
          </a:lstStyle>
          <a:p>
            <a:pPr lvl="1"/>
            <a:r>
              <a:rPr lang="it-IT" dirty="0"/>
              <a:t>Fare clic per modificare il punto elenco uno</a:t>
            </a:r>
          </a:p>
          <a:p>
            <a:pPr lvl="1"/>
            <a:r>
              <a:rPr lang="it-IT" dirty="0"/>
              <a:t>Fare clic per modificare il punto elenco due</a:t>
            </a:r>
          </a:p>
          <a:p>
            <a:pPr lvl="1"/>
            <a:r>
              <a:rPr lang="it-IT" dirty="0"/>
              <a:t>Fare clic per modificare il punto elenco tre</a:t>
            </a:r>
          </a:p>
          <a:p>
            <a:pPr lvl="1"/>
            <a:r>
              <a:rPr lang="it-IT" dirty="0"/>
              <a:t>Fare clic per modificare il punto elenco quattro</a:t>
            </a:r>
          </a:p>
        </p:txBody>
      </p:sp>
      <p:sp>
        <p:nvSpPr>
          <p:cNvPr id="16" name="Segnaposto tes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27051" y="476674"/>
            <a:ext cx="11233149" cy="6480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buNone/>
              <a:defRPr sz="2400" b="1">
                <a:solidFill>
                  <a:srgbClr val="BD2B0B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titolo della diapositiva</a:t>
            </a:r>
          </a:p>
        </p:txBody>
      </p:sp>
    </p:spTree>
    <p:extLst>
      <p:ext uri="{BB962C8B-B14F-4D97-AF65-F5344CB8AC3E}">
        <p14:creationId xmlns:p14="http://schemas.microsoft.com/office/powerpoint/2010/main" val="304385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sempl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tes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27051" y="476674"/>
            <a:ext cx="11233149" cy="6480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buNone/>
              <a:defRPr sz="2400" b="1">
                <a:solidFill>
                  <a:srgbClr val="BD2B0B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titolo della diapositiva</a:t>
            </a:r>
          </a:p>
        </p:txBody>
      </p:sp>
      <p:sp>
        <p:nvSpPr>
          <p:cNvPr id="9" name="Segnaposto tes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1" y="1412875"/>
            <a:ext cx="11233149" cy="4608413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3418157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grafico 8"/>
          <p:cNvSpPr>
            <a:spLocks noGrp="1"/>
          </p:cNvSpPr>
          <p:nvPr>
            <p:ph type="chart" sz="quarter" idx="10" hasCustomPrompt="1"/>
          </p:nvPr>
        </p:nvSpPr>
        <p:spPr>
          <a:xfrm>
            <a:off x="911026" y="2781300"/>
            <a:ext cx="10369551" cy="3024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latin typeface="Century Gothic" panose="020B0502020202020204" pitchFamily="34" charset="0"/>
              </a:defRPr>
            </a:lvl1pPr>
          </a:lstStyle>
          <a:p>
            <a:r>
              <a:rPr lang="it-IT"/>
              <a:t>Fare clic sull’icona per inserire un grafico</a:t>
            </a:r>
          </a:p>
        </p:txBody>
      </p:sp>
      <p:sp>
        <p:nvSpPr>
          <p:cNvPr id="11" name="Segnaposto testo 7"/>
          <p:cNvSpPr>
            <a:spLocks noGrp="1"/>
          </p:cNvSpPr>
          <p:nvPr>
            <p:ph type="body" sz="quarter" idx="12" hasCustomPrompt="1"/>
          </p:nvPr>
        </p:nvSpPr>
        <p:spPr>
          <a:xfrm>
            <a:off x="527051" y="1412876"/>
            <a:ext cx="11233149" cy="43194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testo</a:t>
            </a:r>
          </a:p>
        </p:txBody>
      </p:sp>
      <p:sp>
        <p:nvSpPr>
          <p:cNvPr id="6" name="Segnaposto testo 7"/>
          <p:cNvSpPr>
            <a:spLocks noGrp="1"/>
          </p:cNvSpPr>
          <p:nvPr>
            <p:ph type="body" sz="quarter" idx="13" hasCustomPrompt="1"/>
          </p:nvPr>
        </p:nvSpPr>
        <p:spPr>
          <a:xfrm>
            <a:off x="527051" y="476674"/>
            <a:ext cx="11233149" cy="6480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buNone/>
              <a:defRPr sz="2400" b="1">
                <a:solidFill>
                  <a:srgbClr val="BD2B0B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titolo della diapositiva</a:t>
            </a:r>
          </a:p>
        </p:txBody>
      </p:sp>
    </p:spTree>
    <p:extLst>
      <p:ext uri="{BB962C8B-B14F-4D97-AF65-F5344CB8AC3E}">
        <p14:creationId xmlns:p14="http://schemas.microsoft.com/office/powerpoint/2010/main" val="555833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immagine 10"/>
          <p:cNvSpPr>
            <a:spLocks noGrp="1"/>
          </p:cNvSpPr>
          <p:nvPr>
            <p:ph type="pic" sz="quarter" idx="10" hasCustomPrompt="1"/>
          </p:nvPr>
        </p:nvSpPr>
        <p:spPr>
          <a:xfrm>
            <a:off x="1534584" y="1700809"/>
            <a:ext cx="9122833" cy="410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Century Gothic" panose="020B0502020202020204" pitchFamily="34" charset="0"/>
              </a:defRPr>
            </a:lvl1pPr>
          </a:lstStyle>
          <a:p>
            <a:r>
              <a:rPr lang="it-IT"/>
              <a:t>Fare clic sull’icona per inserire un’immagine</a:t>
            </a:r>
          </a:p>
        </p:txBody>
      </p:sp>
      <p:sp>
        <p:nvSpPr>
          <p:cNvPr id="5" name="Segnaposto tes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1" y="476674"/>
            <a:ext cx="11233149" cy="6480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buNone/>
              <a:defRPr sz="2400" b="1">
                <a:solidFill>
                  <a:srgbClr val="BD2B0B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titolo della diapositiva</a:t>
            </a:r>
          </a:p>
        </p:txBody>
      </p:sp>
    </p:spTree>
    <p:extLst>
      <p:ext uri="{BB962C8B-B14F-4D97-AF65-F5344CB8AC3E}">
        <p14:creationId xmlns:p14="http://schemas.microsoft.com/office/powerpoint/2010/main" val="3970258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CHIUS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487488" y="2780928"/>
            <a:ext cx="9217024" cy="43237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Nome Cognome</a:t>
            </a:r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1439483" y="3573017"/>
            <a:ext cx="9313035" cy="936103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Struttura</a:t>
            </a:r>
          </a:p>
        </p:txBody>
      </p:sp>
      <p:sp>
        <p:nvSpPr>
          <p:cNvPr id="16" name="Segnaposto testo 15"/>
          <p:cNvSpPr>
            <a:spLocks noGrp="1"/>
          </p:cNvSpPr>
          <p:nvPr>
            <p:ph type="body" sz="quarter" idx="12" hasCustomPrompt="1"/>
          </p:nvPr>
        </p:nvSpPr>
        <p:spPr>
          <a:xfrm>
            <a:off x="1390651" y="4725144"/>
            <a:ext cx="9410700" cy="144016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3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nome.cognome@unibo.it</a:t>
            </a:r>
          </a:p>
          <a:p>
            <a:pPr lvl="0"/>
            <a:r>
              <a:rPr lang="it-IT" dirty="0"/>
              <a:t>051 20 99982</a:t>
            </a:r>
          </a:p>
        </p:txBody>
      </p:sp>
    </p:spTree>
    <p:extLst>
      <p:ext uri="{BB962C8B-B14F-4D97-AF65-F5344CB8AC3E}">
        <p14:creationId xmlns:p14="http://schemas.microsoft.com/office/powerpoint/2010/main" val="4249450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COPERT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sz="quarter" idx="10" hasCustomPrompt="1"/>
          </p:nvPr>
        </p:nvSpPr>
        <p:spPr>
          <a:xfrm>
            <a:off x="4751851" y="548680"/>
            <a:ext cx="6913364" cy="4536504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inserire </a:t>
            </a:r>
          </a:p>
          <a:p>
            <a:pPr lvl="0"/>
            <a:r>
              <a:rPr lang="it-IT" dirty="0"/>
              <a:t>il titolo della presentazione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1" hasCustomPrompt="1"/>
          </p:nvPr>
        </p:nvSpPr>
        <p:spPr>
          <a:xfrm>
            <a:off x="4751917" y="5379814"/>
            <a:ext cx="7008283" cy="42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Nome Cognome</a:t>
            </a:r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2" hasCustomPrompt="1"/>
          </p:nvPr>
        </p:nvSpPr>
        <p:spPr>
          <a:xfrm>
            <a:off x="4751918" y="5877942"/>
            <a:ext cx="7105649" cy="7914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Dipartimento/Struttura </a:t>
            </a:r>
            <a:r>
              <a:rPr lang="it-IT" dirty="0" err="1"/>
              <a:t>xxxxxx</a:t>
            </a:r>
            <a:r>
              <a:rPr lang="it-IT" dirty="0"/>
              <a:t> </a:t>
            </a:r>
            <a:r>
              <a:rPr lang="it-IT" dirty="0" err="1"/>
              <a:t>xxxxxxxxxxxx</a:t>
            </a:r>
            <a:r>
              <a:rPr lang="it-IT" dirty="0"/>
              <a:t> </a:t>
            </a:r>
            <a:r>
              <a:rPr lang="it-IT" dirty="0" err="1"/>
              <a:t>xxxxxxxx</a:t>
            </a:r>
            <a:r>
              <a:rPr lang="it-IT" dirty="0"/>
              <a:t> </a:t>
            </a:r>
            <a:r>
              <a:rPr lang="it-IT" dirty="0" err="1"/>
              <a:t>xxxxx</a:t>
            </a:r>
            <a:r>
              <a:rPr lang="it-IT" dirty="0"/>
              <a:t> </a:t>
            </a:r>
            <a:r>
              <a:rPr lang="it-IT" dirty="0" err="1"/>
              <a:t>xxxxxxxxxxxxxxxxxxx</a:t>
            </a:r>
            <a:r>
              <a:rPr lang="it-IT" dirty="0"/>
              <a:t> </a:t>
            </a:r>
            <a:r>
              <a:rPr lang="it-IT" dirty="0" err="1"/>
              <a:t>xxxxx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7876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8EAF4B-7ADB-02F4-C70E-DE4BFDADE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FD276C9-67A1-C35D-D685-A2DEBD162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001AA57-8200-3B95-C7B0-C1B5C239D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F978-9EE2-9B4C-B3C2-301324393C7F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802F8E-45AB-A51B-86B7-28877189A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04808C8-A59A-7770-9A7F-2CB3B0E35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4885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9161BE-0104-50C2-5C4B-7E0A00E35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2677A86-7523-8DA5-FCFF-EC27CD4E5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047E76-C33E-1759-70E6-6A3A946D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F978-9EE2-9B4C-B3C2-301324393C7F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9F08D3-D4F2-C2DD-2B37-BB402C004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A9068BE-969F-C872-989B-45C47CACE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5664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43E512-382A-D5BF-C53F-E9AE97968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0D1EBC7-33F5-72FA-BB57-E349DDAC1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0D32A4E-8C0B-3245-2451-CFBF6954D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F978-9EE2-9B4C-B3C2-301324393C7F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BB1B0D-B2A9-4A96-3EC9-C747534CE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5648CA6-59D0-CABA-0E0D-5839CC2AA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7806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58C3B5-46B8-F5DE-8677-7504944C5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5E11F46-6EAE-F4CC-F613-CAC6FA309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57CEAA3-C903-A7DD-B1A2-807C595B5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DF3719C-2803-DDE7-FE25-E81C9055F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F978-9EE2-9B4C-B3C2-301324393C7F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B959E96-2035-6CE5-32B6-5BA0991E8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80AA91C-7CF5-1901-31EB-2D0924201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72372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F058ED-C5AD-7ACC-956D-A839D3524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03D81E8-80FC-4E86-3157-271496135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19A5484-FFB8-1D17-DD8C-54045DD93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ADC73D0-A7E7-2A1A-B521-AA863C9E72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6CC34B6-640A-F233-AA47-F49685B60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64CC64F-3B52-0F37-C79D-4EFCB4170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F978-9EE2-9B4C-B3C2-301324393C7F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20A68B4-BED1-9944-C222-685623A67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70788E4-8619-9058-D976-5890DAF1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2211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7B7CFC-D161-0740-0A1D-7790BD144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39404C7-390E-CA02-8CE7-E47C7226D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F978-9EE2-9B4C-B3C2-301324393C7F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1FAB4BD-D72B-C7AD-8E86-58347AED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0BB2BD7-3DD9-C432-91E4-1D154D55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1489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86CFE36-0766-2D12-A13E-19B5A9B21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F978-9EE2-9B4C-B3C2-301324393C7F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236B48D-BD8A-B2BC-ECD9-0E0EF8E73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4859477-2474-2199-D5CE-8E4730A6F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9290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E36779-65D3-5227-512D-43D6F5492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53F673F-0607-7FAE-66CD-D73CEB2D7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6D054C9-1107-1303-E791-5ECCCA028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03A57E4-5962-DD7F-6169-CC265F92D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F978-9EE2-9B4C-B3C2-301324393C7F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906F7E6-BF84-370C-EC63-C46D42FB8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BF3669F-A6AA-9C10-323B-25F56FF4B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3769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BFACCB-4D93-1873-3CE4-91F64EF4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6D61400-3683-264F-C788-849313E244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CCA52E2-1EE3-A13C-7EAF-69BA50B47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0362067-02EF-AF87-EEF7-E7B922755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F978-9EE2-9B4C-B3C2-301324393C7F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D76C0ED-2B80-784E-7B0B-21F9C9148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AC3BFDA-3784-3D00-9BA5-800BFD6FD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5639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ED6563-4A19-99B2-D936-353DC4FC2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1201E02-B9A7-8739-4C6E-30883DD6E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76466A2-F0DA-ECA5-EEB2-F32A619DF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F978-9EE2-9B4C-B3C2-301324393C7F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C24043-856C-25C1-8A1C-125DCE98C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9B1461-A359-11DC-18DC-284BF20CD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36267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0F7B844-530D-6232-754D-F85F6C3D03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8C2F168-7410-B9C5-55A2-E47D9E541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58F92DB-0305-C694-90E4-1CCCE3D5F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CF978-9EE2-9B4C-B3C2-301324393C7F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02B3047-FA54-5110-FF2D-2C1E30976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B89CAD-791C-FC1B-5138-9F4F03D1B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60699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COPERT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sz="quarter" idx="10" hasCustomPrompt="1"/>
          </p:nvPr>
        </p:nvSpPr>
        <p:spPr>
          <a:xfrm>
            <a:off x="4751851" y="548680"/>
            <a:ext cx="6913364" cy="4536504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inserire </a:t>
            </a:r>
          </a:p>
          <a:p>
            <a:pPr lvl="0"/>
            <a:r>
              <a:rPr lang="it-IT" dirty="0"/>
              <a:t>il titolo della presentazione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1" hasCustomPrompt="1"/>
          </p:nvPr>
        </p:nvSpPr>
        <p:spPr>
          <a:xfrm>
            <a:off x="4751917" y="5379814"/>
            <a:ext cx="7008283" cy="42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Nome Cognome</a:t>
            </a:r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2" hasCustomPrompt="1"/>
          </p:nvPr>
        </p:nvSpPr>
        <p:spPr>
          <a:xfrm>
            <a:off x="4751918" y="5877942"/>
            <a:ext cx="7105649" cy="7914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Dipartimento/Struttura </a:t>
            </a:r>
            <a:r>
              <a:rPr lang="it-IT" dirty="0" err="1"/>
              <a:t>xxxxxx</a:t>
            </a:r>
            <a:r>
              <a:rPr lang="it-IT" dirty="0"/>
              <a:t> </a:t>
            </a:r>
            <a:r>
              <a:rPr lang="it-IT" dirty="0" err="1"/>
              <a:t>xxxxxxxxxxxx</a:t>
            </a:r>
            <a:r>
              <a:rPr lang="it-IT" dirty="0"/>
              <a:t> </a:t>
            </a:r>
            <a:r>
              <a:rPr lang="it-IT" dirty="0" err="1"/>
              <a:t>xxxxxxxx</a:t>
            </a:r>
            <a:r>
              <a:rPr lang="it-IT" dirty="0"/>
              <a:t> </a:t>
            </a:r>
            <a:r>
              <a:rPr lang="it-IT" dirty="0" err="1"/>
              <a:t>xxxxx</a:t>
            </a:r>
            <a:r>
              <a:rPr lang="it-IT" dirty="0"/>
              <a:t> </a:t>
            </a:r>
            <a:r>
              <a:rPr lang="it-IT" dirty="0" err="1"/>
              <a:t>xxxxxxxxxxxxxxxxxxx</a:t>
            </a:r>
            <a:r>
              <a:rPr lang="it-IT" dirty="0"/>
              <a:t> </a:t>
            </a:r>
            <a:r>
              <a:rPr lang="it-IT" dirty="0" err="1"/>
              <a:t>xxxxx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047577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sempl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tes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27051" y="476674"/>
            <a:ext cx="11233149" cy="6480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buNone/>
              <a:defRPr sz="2400" b="1">
                <a:solidFill>
                  <a:srgbClr val="BD2B0B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titolo della diapositiva</a:t>
            </a:r>
          </a:p>
        </p:txBody>
      </p:sp>
      <p:sp>
        <p:nvSpPr>
          <p:cNvPr id="9" name="Segnaposto tes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1" y="1412875"/>
            <a:ext cx="11233149" cy="4608413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218143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2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pic>
        <p:nvPicPr>
          <p:cNvPr id="10" name="Immagin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15" y="1700808"/>
            <a:ext cx="2538989" cy="2538989"/>
          </a:xfrm>
          <a:prstGeom prst="rect">
            <a:avLst/>
          </a:prstGeom>
        </p:spPr>
      </p:pic>
      <p:cxnSp>
        <p:nvCxnSpPr>
          <p:cNvPr id="12" name="Connettore 1 11"/>
          <p:cNvCxnSpPr/>
          <p:nvPr userDrawn="1"/>
        </p:nvCxnSpPr>
        <p:spPr>
          <a:xfrm>
            <a:off x="4367808" y="188640"/>
            <a:ext cx="0" cy="64087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65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/>
          <p:nvPr userDrawn="1"/>
        </p:nvSpPr>
        <p:spPr>
          <a:xfrm>
            <a:off x="8773683" y="6173407"/>
            <a:ext cx="3215680" cy="548680"/>
          </a:xfrm>
          <a:prstGeom prst="rect">
            <a:avLst/>
          </a:prstGeom>
          <a:solidFill>
            <a:srgbClr val="BD2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pic>
        <p:nvPicPr>
          <p:cNvPr id="9" name="Immagine 8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9416972" y="6165304"/>
            <a:ext cx="2007620" cy="54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52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1" r:id="rId2"/>
    <p:sldLayoutId id="2147483667" r:id="rId3"/>
    <p:sldLayoutId id="2147483669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2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pic>
        <p:nvPicPr>
          <p:cNvPr id="8" name="Immagin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505" y="116632"/>
            <a:ext cx="2538989" cy="2538989"/>
          </a:xfrm>
          <a:prstGeom prst="rect">
            <a:avLst/>
          </a:prstGeom>
        </p:spPr>
      </p:pic>
      <p:sp>
        <p:nvSpPr>
          <p:cNvPr id="9" name="CasellaDiTesto 8"/>
          <p:cNvSpPr txBox="1"/>
          <p:nvPr userDrawn="1"/>
        </p:nvSpPr>
        <p:spPr>
          <a:xfrm>
            <a:off x="4175787" y="6453336"/>
            <a:ext cx="38404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>
                <a:solidFill>
                  <a:schemeClr val="bg1"/>
                </a:solidFill>
              </a:rPr>
              <a:t>www.unibo.it</a:t>
            </a:r>
          </a:p>
        </p:txBody>
      </p:sp>
    </p:spTree>
    <p:extLst>
      <p:ext uri="{BB962C8B-B14F-4D97-AF65-F5344CB8AC3E}">
        <p14:creationId xmlns:p14="http://schemas.microsoft.com/office/powerpoint/2010/main" val="1868398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35DF8A4-AB40-9DDE-2106-F0E29085B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D5FBE21-E1A7-16A1-A2D0-1918B681E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6E6018C-10CC-0C34-C5C0-1647FA9817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BCF978-9EE2-9B4C-B3C2-301324393C7F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20F1C8-98B6-B44E-79F7-5DAE5E1098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EFC185A-8179-8A0E-2012-446F27E12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6C36E1-7260-A54D-A98E-FC88BC984F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997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/>
          <p:cNvSpPr>
            <a:spLocks noGrp="1"/>
          </p:cNvSpPr>
          <p:nvPr>
            <p:ph type="body" sz="quarter" idx="10"/>
          </p:nvPr>
        </p:nvSpPr>
        <p:spPr>
          <a:xfrm>
            <a:off x="1523491" y="3271157"/>
            <a:ext cx="9145017" cy="1235591"/>
          </a:xfrm>
        </p:spPr>
        <p:txBody>
          <a:bodyPr>
            <a:normAutofit/>
          </a:bodyPr>
          <a:lstStyle/>
          <a:p>
            <a:pPr algn="ctr">
              <a:lnSpc>
                <a:spcPct val="125000"/>
              </a:lnSpc>
            </a:pPr>
            <a:r>
              <a:rPr lang="it-IT" sz="2400" dirty="0">
                <a:solidFill>
                  <a:srgbClr val="C00000"/>
                </a:solidFill>
              </a:rPr>
              <a:t>Progetto di un emulatore di encoder incrementali per applicazioni ferroviarie</a:t>
            </a:r>
            <a:endParaRPr lang="en-US" sz="2000" u="sng" noProof="0" dirty="0">
              <a:solidFill>
                <a:srgbClr val="C00000"/>
              </a:solidFill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6BD0665-B3D2-5AA5-C3F9-D3E8E69923CD}"/>
              </a:ext>
            </a:extLst>
          </p:cNvPr>
          <p:cNvSpPr txBox="1"/>
          <p:nvPr/>
        </p:nvSpPr>
        <p:spPr>
          <a:xfrm>
            <a:off x="435668" y="5054052"/>
            <a:ext cx="2610243" cy="1235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>
                <a:solidFill>
                  <a:srgbClr val="C00000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Supervisor </a:t>
            </a:r>
          </a:p>
          <a:p>
            <a:pPr>
              <a:lnSpc>
                <a:spcPct val="150000"/>
              </a:lnSpc>
            </a:pPr>
            <a:r>
              <a:rPr lang="en-US" sz="1400" b="1" noProof="0" dirty="0">
                <a:latin typeface="Century Gothic" panose="020B0502020202020204" pitchFamily="34" charset="0"/>
                <a:cs typeface="Times New Roman" panose="02020603050405020304" pitchFamily="18" charset="0"/>
              </a:rPr>
              <a:t>Prof. Tullio Salmon Cinotti</a:t>
            </a:r>
          </a:p>
          <a:p>
            <a:pPr>
              <a:lnSpc>
                <a:spcPct val="150000"/>
              </a:lnSpc>
            </a:pPr>
            <a:r>
              <a:rPr lang="en-US" sz="1400" noProof="0" dirty="0">
                <a:solidFill>
                  <a:srgbClr val="C00000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Co-Supervisor</a:t>
            </a:r>
          </a:p>
          <a:p>
            <a:pPr>
              <a:lnSpc>
                <a:spcPct val="150000"/>
              </a:lnSpc>
            </a:pPr>
            <a:r>
              <a:rPr lang="en-US" sz="1400" b="1" noProof="0" dirty="0">
                <a:latin typeface="Century Gothic" panose="020B0502020202020204" pitchFamily="34" charset="0"/>
                <a:cs typeface="Times New Roman" panose="02020603050405020304" pitchFamily="18" charset="0"/>
              </a:rPr>
              <a:t>Ing. Kristian Bandi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53907285-E00F-E6F7-E49C-AC89BEDAE52E}"/>
              </a:ext>
            </a:extLst>
          </p:cNvPr>
          <p:cNvSpPr txBox="1"/>
          <p:nvPr/>
        </p:nvSpPr>
        <p:spPr>
          <a:xfrm>
            <a:off x="9552384" y="5054052"/>
            <a:ext cx="2232248" cy="58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noProof="0" dirty="0">
                <a:solidFill>
                  <a:srgbClr val="C00000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Presented by </a:t>
            </a:r>
          </a:p>
          <a:p>
            <a:pPr algn="r">
              <a:lnSpc>
                <a:spcPct val="150000"/>
              </a:lnSpc>
            </a:pPr>
            <a:r>
              <a:rPr lang="en-US" sz="1400" b="1" noProof="0" dirty="0">
                <a:latin typeface="Century Gothic" panose="020B0502020202020204" pitchFamily="34" charset="0"/>
                <a:cs typeface="Times New Roman" panose="02020603050405020304" pitchFamily="18" charset="0"/>
              </a:rPr>
              <a:t>Samuele Pilati</a:t>
            </a:r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2ECAEF7C-FBEF-096C-BF91-079945CDEF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180" y="474765"/>
            <a:ext cx="2579638" cy="1908476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B52BA59-4CBB-A1F6-D1F5-F81D01C73195}"/>
              </a:ext>
            </a:extLst>
          </p:cNvPr>
          <p:cNvSpPr txBox="1"/>
          <p:nvPr/>
        </p:nvSpPr>
        <p:spPr>
          <a:xfrm>
            <a:off x="5029938" y="5025332"/>
            <a:ext cx="2132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Tesi in reti logiche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A55A01A-7A77-D25A-3E71-D8DA9A83AD27}"/>
              </a:ext>
            </a:extLst>
          </p:cNvPr>
          <p:cNvSpPr txBox="1"/>
          <p:nvPr/>
        </p:nvSpPr>
        <p:spPr>
          <a:xfrm>
            <a:off x="4123311" y="2689210"/>
            <a:ext cx="3945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Laurea in ingegneria dell’automazione</a:t>
            </a:r>
          </a:p>
        </p:txBody>
      </p:sp>
    </p:spTree>
    <p:extLst>
      <p:ext uri="{BB962C8B-B14F-4D97-AF65-F5344CB8AC3E}">
        <p14:creationId xmlns:p14="http://schemas.microsoft.com/office/powerpoint/2010/main" val="3085230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62DD6754-0DA7-6A2A-EB5C-8D745358F35C}"/>
              </a:ext>
            </a:extLst>
          </p:cNvPr>
          <p:cNvSpPr txBox="1"/>
          <p:nvPr/>
        </p:nvSpPr>
        <p:spPr>
          <a:xfrm>
            <a:off x="695401" y="1844824"/>
            <a:ext cx="539214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noProof="0" dirty="0">
                <a:latin typeface="Century Gothic" panose="020B0502020202020204" pitchFamily="34" charset="0"/>
                <a:cs typeface="Times New Roman" panose="02020603050405020304" pitchFamily="18" charset="0"/>
              </a:rPr>
              <a:t>Incremental encoder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noProof="0" dirty="0">
                <a:latin typeface="Century Gothic" panose="020B0502020202020204" pitchFamily="34" charset="0"/>
                <a:cs typeface="Times New Roman" panose="02020603050405020304" pitchFamily="18" charset="0"/>
              </a:rPr>
              <a:t>Project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noProof="0" dirty="0">
                <a:latin typeface="Century Gothic" panose="020B0502020202020204" pitchFamily="34" charset="0"/>
                <a:cs typeface="Times New Roman" panose="02020603050405020304" pitchFamily="18" charset="0"/>
              </a:rPr>
              <a:t>Technologies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noProof="0" dirty="0">
                <a:latin typeface="Century Gothic" panose="020B0502020202020204" pitchFamily="34" charset="0"/>
                <a:cs typeface="Times New Roman" panose="02020603050405020304" pitchFamily="18" charset="0"/>
              </a:rPr>
              <a:t>GUI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noProof="0" dirty="0">
                <a:latin typeface="Century Gothic" panose="020B0502020202020204" pitchFamily="34" charset="0"/>
                <a:cs typeface="Times New Roman" panose="02020603050405020304" pitchFamily="18" charset="0"/>
              </a:rPr>
              <a:t>Problems and solutions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noProof="0" dirty="0">
                <a:latin typeface="Century Gothic" panose="020B0502020202020204" pitchFamily="34" charset="0"/>
                <a:cs typeface="Times New Roman" panose="02020603050405020304" pitchFamily="18" charset="0"/>
              </a:rPr>
              <a:t>Results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noProof="0" dirty="0">
                <a:latin typeface="Century Gothic" panose="020B0502020202020204" pitchFamily="34" charset="0"/>
                <a:cs typeface="Times New Roman" panose="02020603050405020304" pitchFamily="18" charset="0"/>
              </a:rPr>
              <a:t>Demo</a:t>
            </a:r>
          </a:p>
        </p:txBody>
      </p:sp>
      <p:sp>
        <p:nvSpPr>
          <p:cNvPr id="13" name="Segnaposto testo 1">
            <a:extLst>
              <a:ext uri="{FF2B5EF4-FFF2-40B4-BE49-F238E27FC236}">
                <a16:creationId xmlns:a16="http://schemas.microsoft.com/office/drawing/2014/main" id="{2EFCD7E7-5AC1-6339-734C-51F19EF443E9}"/>
              </a:ext>
            </a:extLst>
          </p:cNvPr>
          <p:cNvSpPr txBox="1">
            <a:spLocks/>
          </p:cNvSpPr>
          <p:nvPr/>
        </p:nvSpPr>
        <p:spPr>
          <a:xfrm>
            <a:off x="527051" y="620689"/>
            <a:ext cx="11233149" cy="64807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800" noProof="0" dirty="0" err="1">
                <a:solidFill>
                  <a:srgbClr val="BD2B0B"/>
                </a:solidFill>
              </a:rPr>
              <a:t>Contenuti</a:t>
            </a:r>
            <a:endParaRPr lang="en-US" noProof="0" dirty="0">
              <a:solidFill>
                <a:srgbClr val="BD2B0B"/>
              </a:solidFill>
            </a:endParaRPr>
          </a:p>
        </p:txBody>
      </p:sp>
      <p:pic>
        <p:nvPicPr>
          <p:cNvPr id="4" name="Immagine 3" descr="Immagine che contiene disegno, Elementi grafici, clipart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BE4BDD8B-C1A5-B361-D6DE-B1851593A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072" y="1682153"/>
            <a:ext cx="2972215" cy="257210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173EEF10-675F-6F3E-C7D1-F1C5B51798F2}"/>
              </a:ext>
            </a:extLst>
          </p:cNvPr>
          <p:cNvSpPr txBox="1"/>
          <p:nvPr/>
        </p:nvSpPr>
        <p:spPr>
          <a:xfrm>
            <a:off x="6931009" y="4482989"/>
            <a:ext cx="2598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/>
              <a:t>Attuale icona del GITSIM</a:t>
            </a:r>
          </a:p>
        </p:txBody>
      </p:sp>
    </p:spTree>
    <p:extLst>
      <p:ext uri="{BB962C8B-B14F-4D97-AF65-F5344CB8AC3E}">
        <p14:creationId xmlns:p14="http://schemas.microsoft.com/office/powerpoint/2010/main" val="2489510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0DE1D-6E95-75C9-947E-78241B3D6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95DA174F-5650-D295-63F9-CC4D995FB4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576" y="404664"/>
            <a:ext cx="11233149" cy="1296144"/>
          </a:xfrm>
        </p:spPr>
        <p:txBody>
          <a:bodyPr>
            <a:normAutofit/>
          </a:bodyPr>
          <a:lstStyle/>
          <a:p>
            <a:pPr algn="ctr"/>
            <a:r>
              <a:rPr lang="en-US" sz="3600" noProof="0" dirty="0"/>
              <a:t>Incremental encoder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1EC9610-C5BF-677B-54DA-7A3948D0F8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5576" y="1095389"/>
            <a:ext cx="5304660" cy="5182025"/>
          </a:xfrm>
        </p:spPr>
        <p:txBody>
          <a:bodyPr>
            <a:normAutofit lnSpcReduction="10000"/>
          </a:bodyPr>
          <a:lstStyle/>
          <a:p>
            <a:r>
              <a:rPr lang="it-IT" dirty="0"/>
              <a:t>An encoder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electronic</a:t>
            </a:r>
            <a:r>
              <a:rPr lang="it-IT" dirty="0"/>
              <a:t> device </a:t>
            </a:r>
            <a:r>
              <a:rPr lang="it-IT" dirty="0" err="1"/>
              <a:t>used</a:t>
            </a:r>
            <a:r>
              <a:rPr lang="it-IT" dirty="0"/>
              <a:t> to </a:t>
            </a:r>
            <a:r>
              <a:rPr lang="it-IT" dirty="0" err="1"/>
              <a:t>convert</a:t>
            </a:r>
            <a:r>
              <a:rPr lang="it-IT" dirty="0"/>
              <a:t> </a:t>
            </a:r>
            <a:r>
              <a:rPr lang="it-IT" dirty="0" err="1"/>
              <a:t>mechanical</a:t>
            </a:r>
            <a:r>
              <a:rPr lang="it-IT" dirty="0"/>
              <a:t> </a:t>
            </a:r>
            <a:r>
              <a:rPr lang="it-IT" dirty="0" err="1"/>
              <a:t>motion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</a:t>
            </a:r>
            <a:r>
              <a:rPr lang="it-IT" dirty="0" err="1"/>
              <a:t>electronic</a:t>
            </a:r>
            <a:r>
              <a:rPr lang="it-IT" dirty="0"/>
              <a:t> </a:t>
            </a:r>
            <a:r>
              <a:rPr lang="it-IT" dirty="0" err="1"/>
              <a:t>signals</a:t>
            </a:r>
            <a:r>
              <a:rPr lang="it-IT" dirty="0"/>
              <a:t>.</a:t>
            </a:r>
          </a:p>
          <a:p>
            <a:r>
              <a:rPr lang="it-IT" dirty="0"/>
              <a:t>Optical encoders use a </a:t>
            </a:r>
            <a:r>
              <a:rPr lang="it-IT" dirty="0" err="1"/>
              <a:t>perforated</a:t>
            </a:r>
            <a:r>
              <a:rPr lang="it-IT" dirty="0"/>
              <a:t> disk or a </a:t>
            </a:r>
            <a:r>
              <a:rPr lang="it-IT" dirty="0" err="1"/>
              <a:t>grid</a:t>
            </a:r>
            <a:r>
              <a:rPr lang="it-IT" dirty="0"/>
              <a:t> of lines to generate </a:t>
            </a:r>
            <a:r>
              <a:rPr lang="it-IT" dirty="0" err="1"/>
              <a:t>pulses</a:t>
            </a:r>
            <a:r>
              <a:rPr lang="it-IT" dirty="0"/>
              <a:t> in </a:t>
            </a:r>
            <a:r>
              <a:rPr lang="it-IT" dirty="0" err="1"/>
              <a:t>response</a:t>
            </a:r>
            <a:r>
              <a:rPr lang="it-IT" dirty="0"/>
              <a:t> to </a:t>
            </a:r>
            <a:r>
              <a:rPr lang="it-IT" dirty="0" err="1"/>
              <a:t>motion</a:t>
            </a:r>
            <a:r>
              <a:rPr lang="it-IT" dirty="0"/>
              <a:t>.</a:t>
            </a:r>
          </a:p>
          <a:p>
            <a:br>
              <a:rPr lang="it-IT" dirty="0"/>
            </a:br>
            <a:r>
              <a:rPr lang="it-IT" dirty="0" err="1"/>
              <a:t>Compared</a:t>
            </a:r>
            <a:r>
              <a:rPr lang="it-IT" dirty="0"/>
              <a:t> to </a:t>
            </a:r>
            <a:r>
              <a:rPr lang="it-IT" dirty="0" err="1"/>
              <a:t>other</a:t>
            </a:r>
            <a:r>
              <a:rPr lang="it-IT" dirty="0"/>
              <a:t> position </a:t>
            </a:r>
            <a:r>
              <a:rPr lang="it-IT" dirty="0" err="1"/>
              <a:t>transducers</a:t>
            </a:r>
            <a:r>
              <a:rPr lang="it-IT" dirty="0"/>
              <a:t>, encoders </a:t>
            </a:r>
            <a:r>
              <a:rPr lang="it-IT" dirty="0" err="1"/>
              <a:t>offer</a:t>
            </a:r>
            <a:r>
              <a:rPr lang="it-IT" dirty="0"/>
              <a:t> </a:t>
            </a:r>
            <a:r>
              <a:rPr lang="it-IT" dirty="0" err="1"/>
              <a:t>several</a:t>
            </a:r>
            <a:r>
              <a:rPr lang="it-IT" dirty="0"/>
              <a:t> </a:t>
            </a:r>
            <a:r>
              <a:rPr lang="it-IT" dirty="0" err="1"/>
              <a:t>advantages</a:t>
            </a:r>
            <a:r>
              <a:rPr lang="it-IT" dirty="0"/>
              <a:t>: </a:t>
            </a:r>
            <a:r>
              <a:rPr lang="it-IT" dirty="0" err="1"/>
              <a:t>they</a:t>
            </a:r>
            <a:r>
              <a:rPr lang="it-IT" dirty="0"/>
              <a:t> provide </a:t>
            </a:r>
            <a:r>
              <a:rPr lang="it-IT" dirty="0" err="1"/>
              <a:t>extremely</a:t>
            </a:r>
            <a:r>
              <a:rPr lang="it-IT" dirty="0"/>
              <a:t> precise position and speed readings, are </a:t>
            </a:r>
            <a:r>
              <a:rPr lang="it-IT" dirty="0" err="1"/>
              <a:t>highly</a:t>
            </a:r>
            <a:r>
              <a:rPr lang="it-IT" dirty="0"/>
              <a:t> </a:t>
            </a:r>
            <a:r>
              <a:rPr lang="it-IT" dirty="0" err="1"/>
              <a:t>reliable</a:t>
            </a:r>
            <a:r>
              <a:rPr lang="it-IT" dirty="0"/>
              <a:t>, and </a:t>
            </a:r>
            <a:r>
              <a:rPr lang="it-IT" dirty="0" err="1"/>
              <a:t>their</a:t>
            </a:r>
            <a:r>
              <a:rPr lang="it-IT" dirty="0"/>
              <a:t> non-contact nature makes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less</a:t>
            </a:r>
            <a:r>
              <a:rPr lang="it-IT" dirty="0"/>
              <a:t> prone to </a:t>
            </a:r>
            <a:r>
              <a:rPr lang="it-IT" dirty="0" err="1"/>
              <a:t>wear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traditional</a:t>
            </a:r>
            <a:r>
              <a:rPr lang="it-IT" dirty="0"/>
              <a:t> </a:t>
            </a:r>
            <a:r>
              <a:rPr lang="it-IT" dirty="0" err="1"/>
              <a:t>electronic</a:t>
            </a:r>
            <a:r>
              <a:rPr lang="it-IT" dirty="0"/>
              <a:t> devices.</a:t>
            </a:r>
          </a:p>
          <a:p>
            <a:r>
              <a:rPr lang="it-IT" dirty="0"/>
              <a:t>The </a:t>
            </a:r>
            <a:r>
              <a:rPr lang="it-IT" dirty="0" err="1"/>
              <a:t>electronic</a:t>
            </a:r>
            <a:r>
              <a:rPr lang="it-IT" dirty="0"/>
              <a:t> </a:t>
            </a:r>
            <a:r>
              <a:rPr lang="it-IT" dirty="0" err="1"/>
              <a:t>signals</a:t>
            </a:r>
            <a:r>
              <a:rPr lang="it-IT" dirty="0"/>
              <a:t> </a:t>
            </a:r>
            <a:r>
              <a:rPr lang="it-IT" dirty="0" err="1"/>
              <a:t>produced</a:t>
            </a:r>
            <a:r>
              <a:rPr lang="it-IT" dirty="0"/>
              <a:t> by the encoders are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interpreted</a:t>
            </a:r>
            <a:r>
              <a:rPr lang="it-IT" dirty="0"/>
              <a:t> by an </a:t>
            </a:r>
            <a:r>
              <a:rPr lang="it-IT" dirty="0" err="1"/>
              <a:t>electronic</a:t>
            </a:r>
            <a:r>
              <a:rPr lang="it-IT" dirty="0"/>
              <a:t> component </a:t>
            </a:r>
            <a:r>
              <a:rPr lang="it-IT" dirty="0" err="1"/>
              <a:t>known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an </a:t>
            </a:r>
            <a:r>
              <a:rPr lang="it-IT" dirty="0" err="1"/>
              <a:t>odometry</a:t>
            </a:r>
            <a:r>
              <a:rPr lang="it-IT" dirty="0"/>
              <a:t> to </a:t>
            </a:r>
            <a:r>
              <a:rPr lang="it-IT" dirty="0" err="1"/>
              <a:t>obtain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 ​​for relative position, speed, and </a:t>
            </a:r>
            <a:r>
              <a:rPr lang="it-IT" dirty="0" err="1"/>
              <a:t>acceleration</a:t>
            </a:r>
            <a:r>
              <a:rPr lang="it-IT" dirty="0"/>
              <a:t>.</a:t>
            </a:r>
          </a:p>
          <a:p>
            <a:br>
              <a:rPr lang="it-IT" dirty="0"/>
            </a:br>
            <a:endParaRPr lang="it-IT" dirty="0"/>
          </a:p>
        </p:txBody>
      </p:sp>
      <p:pic>
        <p:nvPicPr>
          <p:cNvPr id="6" name="Immagine 5" descr="Immagine che contiene cerchio, schizzo,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10BF6A6F-F2E2-A0F3-7902-22CDD3690D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144" y="875944"/>
            <a:ext cx="2962688" cy="2553056"/>
          </a:xfrm>
          <a:prstGeom prst="rect">
            <a:avLst/>
          </a:prstGeom>
        </p:spPr>
      </p:pic>
      <p:pic>
        <p:nvPicPr>
          <p:cNvPr id="8" name="Immagine 7" descr="Immagine che contiene schizzo, diagramma, cerchio, design&#10;&#10;Il contenuto generato dall'IA potrebbe non essere corretto.">
            <a:extLst>
              <a:ext uri="{FF2B5EF4-FFF2-40B4-BE49-F238E27FC236}">
                <a16:creationId xmlns:a16="http://schemas.microsoft.com/office/drawing/2014/main" id="{E6C504C3-730B-0E87-D8C8-3E47E62DC0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136" y="3725978"/>
            <a:ext cx="3532586" cy="256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77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/>
          <p:cNvSpPr>
            <a:spLocks noGrp="1"/>
          </p:cNvSpPr>
          <p:nvPr>
            <p:ph type="body" sz="quarter" idx="10"/>
          </p:nvPr>
        </p:nvSpPr>
        <p:spPr>
          <a:xfrm>
            <a:off x="503308" y="548680"/>
            <a:ext cx="11233149" cy="1296144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Project</a:t>
            </a:r>
            <a:r>
              <a:rPr lang="en-US" sz="3600" noProof="0" dirty="0"/>
              <a:t>: </a:t>
            </a:r>
            <a:r>
              <a:rPr lang="it-IT" sz="3600" noProof="0" dirty="0" err="1"/>
              <a:t>Incremental</a:t>
            </a:r>
            <a:r>
              <a:rPr lang="it-IT" sz="3600" noProof="0" dirty="0"/>
              <a:t> encoder emulator </a:t>
            </a:r>
            <a:r>
              <a:rPr lang="it-IT" sz="3600" dirty="0" err="1"/>
              <a:t>realized</a:t>
            </a:r>
            <a:r>
              <a:rPr lang="it-IT" sz="3600" dirty="0"/>
              <a:t> with FPGA</a:t>
            </a:r>
            <a:endParaRPr lang="en-US" sz="3600" noProof="0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DC69AB50-C995-1EE9-A10D-E8D6ACE06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848" y="1772816"/>
            <a:ext cx="6582970" cy="2476094"/>
          </a:xfrm>
          <a:prstGeom prst="rect">
            <a:avLst/>
          </a:prstGeom>
        </p:spPr>
      </p:pic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8E6CBC82-28DA-8458-D865-A15A62C150AF}"/>
              </a:ext>
            </a:extLst>
          </p:cNvPr>
          <p:cNvSpPr/>
          <p:nvPr/>
        </p:nvSpPr>
        <p:spPr>
          <a:xfrm rot="12266365">
            <a:off x="9184849" y="3725358"/>
            <a:ext cx="1676028" cy="59759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8276FCD1-75BF-00D5-A8AB-6725911D8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6773" y="4551610"/>
            <a:ext cx="1654092" cy="1430383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0D623F9-133B-FC16-BD4C-C6F87015DFC8}"/>
              </a:ext>
            </a:extLst>
          </p:cNvPr>
          <p:cNvSpPr txBox="1"/>
          <p:nvPr/>
        </p:nvSpPr>
        <p:spPr>
          <a:xfrm>
            <a:off x="9986245" y="5986154"/>
            <a:ext cx="1973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GITSIM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F8D8308-89D8-5B69-4D4E-98EFF773AD83}"/>
              </a:ext>
            </a:extLst>
          </p:cNvPr>
          <p:cNvSpPr txBox="1"/>
          <p:nvPr/>
        </p:nvSpPr>
        <p:spPr>
          <a:xfrm>
            <a:off x="263352" y="1916832"/>
            <a:ext cx="432047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Century Gothic" panose="020B0502020202020204" pitchFamily="34" charset="0"/>
              </a:rPr>
              <a:t>The goal of </a:t>
            </a:r>
            <a:r>
              <a:rPr lang="it-IT" dirty="0" err="1">
                <a:latin typeface="Century Gothic" panose="020B0502020202020204" pitchFamily="34" charset="0"/>
              </a:rPr>
              <a:t>this</a:t>
            </a:r>
            <a:r>
              <a:rPr lang="it-IT" dirty="0">
                <a:latin typeface="Century Gothic" panose="020B0502020202020204" pitchFamily="34" charset="0"/>
              </a:rPr>
              <a:t> project </a:t>
            </a:r>
            <a:r>
              <a:rPr lang="it-IT" dirty="0" err="1">
                <a:latin typeface="Century Gothic" panose="020B0502020202020204" pitchFamily="34" charset="0"/>
              </a:rPr>
              <a:t>was</a:t>
            </a:r>
            <a:r>
              <a:rPr lang="it-IT" dirty="0">
                <a:latin typeface="Century Gothic" panose="020B0502020202020204" pitchFamily="34" charset="0"/>
              </a:rPr>
              <a:t> to create a device </a:t>
            </a:r>
            <a:r>
              <a:rPr lang="it-IT" dirty="0" err="1">
                <a:latin typeface="Century Gothic" panose="020B0502020202020204" pitchFamily="34" charset="0"/>
              </a:rPr>
              <a:t>capable</a:t>
            </a:r>
            <a:r>
              <a:rPr lang="it-IT" dirty="0">
                <a:latin typeface="Century Gothic" panose="020B0502020202020204" pitchFamily="34" charset="0"/>
              </a:rPr>
              <a:t> of </a:t>
            </a:r>
            <a:r>
              <a:rPr lang="it-IT" dirty="0" err="1">
                <a:latin typeface="Century Gothic" panose="020B0502020202020204" pitchFamily="34" charset="0"/>
              </a:rPr>
              <a:t>emulating</a:t>
            </a:r>
            <a:r>
              <a:rPr lang="it-IT" dirty="0">
                <a:latin typeface="Century Gothic" panose="020B0502020202020204" pitchFamily="34" charset="0"/>
              </a:rPr>
              <a:t> </a:t>
            </a:r>
            <a:r>
              <a:rPr lang="it-IT" dirty="0" err="1">
                <a:latin typeface="Century Gothic" panose="020B0502020202020204" pitchFamily="34" charset="0"/>
              </a:rPr>
              <a:t>incremental</a:t>
            </a:r>
            <a:r>
              <a:rPr lang="it-IT" dirty="0">
                <a:latin typeface="Century Gothic" panose="020B0502020202020204" pitchFamily="34" charset="0"/>
              </a:rPr>
              <a:t> encoders, </a:t>
            </a:r>
            <a:r>
              <a:rPr lang="it-IT" dirty="0" err="1">
                <a:latin typeface="Century Gothic" panose="020B0502020202020204" pitchFamily="34" charset="0"/>
              </a:rPr>
              <a:t>allowing</a:t>
            </a:r>
            <a:r>
              <a:rPr lang="it-IT" dirty="0">
                <a:latin typeface="Century Gothic" panose="020B0502020202020204" pitchFamily="34" charset="0"/>
              </a:rPr>
              <a:t> for the testing of </a:t>
            </a:r>
            <a:r>
              <a:rPr lang="it-IT" dirty="0" err="1">
                <a:latin typeface="Century Gothic" panose="020B0502020202020204" pitchFamily="34" charset="0"/>
              </a:rPr>
              <a:t>odometry</a:t>
            </a:r>
            <a:r>
              <a:rPr lang="it-IT" dirty="0">
                <a:latin typeface="Century Gothic" panose="020B0502020202020204" pitchFamily="34" charset="0"/>
              </a:rPr>
              <a:t> systems—and the </a:t>
            </a:r>
            <a:r>
              <a:rPr lang="it-IT" dirty="0" err="1">
                <a:latin typeface="Century Gothic" panose="020B0502020202020204" pitchFamily="34" charset="0"/>
              </a:rPr>
              <a:t>algorithms</a:t>
            </a:r>
            <a:r>
              <a:rPr lang="it-IT" dirty="0">
                <a:latin typeface="Century Gothic" panose="020B0502020202020204" pitchFamily="34" charset="0"/>
              </a:rPr>
              <a:t> </a:t>
            </a:r>
            <a:r>
              <a:rPr lang="it-IT" dirty="0" err="1">
                <a:latin typeface="Century Gothic" panose="020B0502020202020204" pitchFamily="34" charset="0"/>
              </a:rPr>
              <a:t>used</a:t>
            </a:r>
            <a:r>
              <a:rPr lang="it-IT" dirty="0">
                <a:latin typeface="Century Gothic" panose="020B0502020202020204" pitchFamily="34" charset="0"/>
              </a:rPr>
              <a:t> </a:t>
            </a:r>
            <a:r>
              <a:rPr lang="it-IT" dirty="0" err="1">
                <a:latin typeface="Century Gothic" panose="020B0502020202020204" pitchFamily="34" charset="0"/>
              </a:rPr>
              <a:t>within</a:t>
            </a:r>
            <a:r>
              <a:rPr lang="it-IT" dirty="0">
                <a:latin typeface="Century Gothic" panose="020B0502020202020204" pitchFamily="34" charset="0"/>
              </a:rPr>
              <a:t> </a:t>
            </a:r>
            <a:r>
              <a:rPr lang="it-IT" dirty="0" err="1">
                <a:latin typeface="Century Gothic" panose="020B0502020202020204" pitchFamily="34" charset="0"/>
              </a:rPr>
              <a:t>them</a:t>
            </a:r>
            <a:r>
              <a:rPr lang="it-IT" dirty="0">
                <a:latin typeface="Century Gothic" panose="020B0502020202020204" pitchFamily="34" charset="0"/>
              </a:rPr>
              <a:t>—in a </a:t>
            </a:r>
            <a:r>
              <a:rPr lang="it-IT" dirty="0" err="1">
                <a:latin typeface="Century Gothic" panose="020B0502020202020204" pitchFamily="34" charset="0"/>
              </a:rPr>
              <a:t>laboratory</a:t>
            </a:r>
            <a:r>
              <a:rPr lang="it-IT" dirty="0">
                <a:latin typeface="Century Gothic" panose="020B0502020202020204" pitchFamily="34" charset="0"/>
              </a:rPr>
              <a:t> setting </a:t>
            </a:r>
            <a:r>
              <a:rPr lang="it-IT" dirty="0" err="1">
                <a:latin typeface="Century Gothic" panose="020B0502020202020204" pitchFamily="34" charset="0"/>
              </a:rPr>
              <a:t>rather</a:t>
            </a:r>
            <a:r>
              <a:rPr lang="it-IT" dirty="0">
                <a:latin typeface="Century Gothic" panose="020B0502020202020204" pitchFamily="34" charset="0"/>
              </a:rPr>
              <a:t> </a:t>
            </a:r>
            <a:r>
              <a:rPr lang="it-IT" dirty="0" err="1">
                <a:latin typeface="Century Gothic" panose="020B0502020202020204" pitchFamily="34" charset="0"/>
              </a:rPr>
              <a:t>than</a:t>
            </a:r>
            <a:r>
              <a:rPr lang="it-IT" dirty="0">
                <a:latin typeface="Century Gothic" panose="020B0502020202020204" pitchFamily="34" charset="0"/>
              </a:rPr>
              <a:t> in the field.</a:t>
            </a:r>
          </a:p>
          <a:p>
            <a:br>
              <a:rPr lang="it-IT" dirty="0"/>
            </a:br>
            <a:endParaRPr lang="it-IT" dirty="0">
              <a:latin typeface="Century Gothic" panose="020B0502020202020204" pitchFamily="34" charset="0"/>
            </a:endParaRPr>
          </a:p>
          <a:p>
            <a:pPr algn="just"/>
            <a:r>
              <a:rPr lang="it-IT" dirty="0" err="1">
                <a:latin typeface="Century Gothic" panose="020B0502020202020204" pitchFamily="34" charset="0"/>
              </a:rPr>
              <a:t>This</a:t>
            </a:r>
            <a:r>
              <a:rPr lang="it-IT" dirty="0">
                <a:latin typeface="Century Gothic" panose="020B0502020202020204" pitchFamily="34" charset="0"/>
              </a:rPr>
              <a:t> device </a:t>
            </a:r>
            <a:r>
              <a:rPr lang="it-IT" dirty="0" err="1">
                <a:latin typeface="Century Gothic" panose="020B0502020202020204" pitchFamily="34" charset="0"/>
              </a:rPr>
              <a:t>has</a:t>
            </a:r>
            <a:r>
              <a:rPr lang="it-IT" dirty="0">
                <a:latin typeface="Century Gothic" panose="020B0502020202020204" pitchFamily="34" charset="0"/>
              </a:rPr>
              <a:t> </a:t>
            </a:r>
            <a:r>
              <a:rPr lang="it-IT" dirty="0" err="1">
                <a:latin typeface="Century Gothic" panose="020B0502020202020204" pitchFamily="34" charset="0"/>
              </a:rPr>
              <a:t>been</a:t>
            </a:r>
            <a:r>
              <a:rPr lang="it-IT" dirty="0">
                <a:latin typeface="Century Gothic" panose="020B0502020202020204" pitchFamily="34" charset="0"/>
              </a:rPr>
              <a:t> </a:t>
            </a:r>
            <a:r>
              <a:rPr lang="it-IT" dirty="0" err="1">
                <a:latin typeface="Century Gothic" panose="020B0502020202020204" pitchFamily="34" charset="0"/>
              </a:rPr>
              <a:t>called</a:t>
            </a:r>
            <a:r>
              <a:rPr lang="it-IT" dirty="0">
                <a:latin typeface="Century Gothic" panose="020B0502020202020204" pitchFamily="34" charset="0"/>
              </a:rPr>
              <a:t> GITSIM.</a:t>
            </a:r>
          </a:p>
        </p:txBody>
      </p:sp>
      <p:cxnSp>
        <p:nvCxnSpPr>
          <p:cNvPr id="25" name="Connettore a gomito 24">
            <a:extLst>
              <a:ext uri="{FF2B5EF4-FFF2-40B4-BE49-F238E27FC236}">
                <a16:creationId xmlns:a16="http://schemas.microsoft.com/office/drawing/2014/main" id="{69B33BFD-E093-1294-7368-D65B71DCEF99}"/>
              </a:ext>
            </a:extLst>
          </p:cNvPr>
          <p:cNvCxnSpPr>
            <a:cxnSpLocks/>
          </p:cNvCxnSpPr>
          <p:nvPr/>
        </p:nvCxnSpPr>
        <p:spPr>
          <a:xfrm flipV="1">
            <a:off x="2280495" y="5179251"/>
            <a:ext cx="434314" cy="340424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a gomito 25">
            <a:extLst>
              <a:ext uri="{FF2B5EF4-FFF2-40B4-BE49-F238E27FC236}">
                <a16:creationId xmlns:a16="http://schemas.microsoft.com/office/drawing/2014/main" id="{4315311C-013B-66D0-A873-5614B51B0CCD}"/>
              </a:ext>
            </a:extLst>
          </p:cNvPr>
          <p:cNvCxnSpPr>
            <a:cxnSpLocks/>
          </p:cNvCxnSpPr>
          <p:nvPr/>
        </p:nvCxnSpPr>
        <p:spPr>
          <a:xfrm>
            <a:off x="2714809" y="5179251"/>
            <a:ext cx="571530" cy="351276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a gomito 26">
            <a:extLst>
              <a:ext uri="{FF2B5EF4-FFF2-40B4-BE49-F238E27FC236}">
                <a16:creationId xmlns:a16="http://schemas.microsoft.com/office/drawing/2014/main" id="{74496433-C404-6972-8D91-D980BDDF91FF}"/>
              </a:ext>
            </a:extLst>
          </p:cNvPr>
          <p:cNvCxnSpPr>
            <a:cxnSpLocks/>
          </p:cNvCxnSpPr>
          <p:nvPr/>
        </p:nvCxnSpPr>
        <p:spPr>
          <a:xfrm flipV="1">
            <a:off x="3259998" y="5179251"/>
            <a:ext cx="678947" cy="351276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a gomito 27">
            <a:extLst>
              <a:ext uri="{FF2B5EF4-FFF2-40B4-BE49-F238E27FC236}">
                <a16:creationId xmlns:a16="http://schemas.microsoft.com/office/drawing/2014/main" id="{B96B969B-946C-8A66-EAD9-9BA3D1DAB2DE}"/>
              </a:ext>
            </a:extLst>
          </p:cNvPr>
          <p:cNvCxnSpPr>
            <a:cxnSpLocks/>
          </p:cNvCxnSpPr>
          <p:nvPr/>
        </p:nvCxnSpPr>
        <p:spPr>
          <a:xfrm flipV="1">
            <a:off x="2458354" y="5753115"/>
            <a:ext cx="664175" cy="428820"/>
          </a:xfrm>
          <a:prstGeom prst="bentConnector3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Connettore a gomito 28">
            <a:extLst>
              <a:ext uri="{FF2B5EF4-FFF2-40B4-BE49-F238E27FC236}">
                <a16:creationId xmlns:a16="http://schemas.microsoft.com/office/drawing/2014/main" id="{B0A75FCD-C82A-9375-5E07-1D85C2E1F5B1}"/>
              </a:ext>
            </a:extLst>
          </p:cNvPr>
          <p:cNvCxnSpPr>
            <a:cxnSpLocks/>
          </p:cNvCxnSpPr>
          <p:nvPr/>
        </p:nvCxnSpPr>
        <p:spPr>
          <a:xfrm>
            <a:off x="3072076" y="5753115"/>
            <a:ext cx="563877" cy="439672"/>
          </a:xfrm>
          <a:prstGeom prst="bentConnector3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Connettore a gomito 29">
            <a:extLst>
              <a:ext uri="{FF2B5EF4-FFF2-40B4-BE49-F238E27FC236}">
                <a16:creationId xmlns:a16="http://schemas.microsoft.com/office/drawing/2014/main" id="{5947C421-373C-03F0-8CAE-9B1E65910521}"/>
              </a:ext>
            </a:extLst>
          </p:cNvPr>
          <p:cNvCxnSpPr>
            <a:cxnSpLocks/>
          </p:cNvCxnSpPr>
          <p:nvPr/>
        </p:nvCxnSpPr>
        <p:spPr>
          <a:xfrm flipV="1">
            <a:off x="3599471" y="5765970"/>
            <a:ext cx="514986" cy="432047"/>
          </a:xfrm>
          <a:prstGeom prst="bentConnector3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D67348B5-0290-9BF5-343C-452902A012F9}"/>
              </a:ext>
            </a:extLst>
          </p:cNvPr>
          <p:cNvSpPr txBox="1"/>
          <p:nvPr/>
        </p:nvSpPr>
        <p:spPr>
          <a:xfrm>
            <a:off x="2205227" y="4712509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Segnale A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3D2A8532-9E59-9FD9-84C6-212ABA7F52DF}"/>
              </a:ext>
            </a:extLst>
          </p:cNvPr>
          <p:cNvSpPr txBox="1"/>
          <p:nvPr/>
        </p:nvSpPr>
        <p:spPr>
          <a:xfrm>
            <a:off x="2585082" y="6359400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Segnale B</a:t>
            </a:r>
          </a:p>
        </p:txBody>
      </p:sp>
      <p:pic>
        <p:nvPicPr>
          <p:cNvPr id="33" name="Immagine 32" descr="Immagine che contiene schizzo, diagramma, cerchio, design&#10;&#10;Il contenuto generato dall'IA potrebbe non essere corretto.">
            <a:extLst>
              <a:ext uri="{FF2B5EF4-FFF2-40B4-BE49-F238E27FC236}">
                <a16:creationId xmlns:a16="http://schemas.microsoft.com/office/drawing/2014/main" id="{50F3CB5C-F00C-B232-8D16-FED04BAC7A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6" y="5037923"/>
            <a:ext cx="1973513" cy="1430383"/>
          </a:xfrm>
          <a:prstGeom prst="rect">
            <a:avLst/>
          </a:prstGeom>
        </p:spPr>
      </p:pic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09F258D7-13B2-94B6-18CA-E9540AD61F34}"/>
              </a:ext>
            </a:extLst>
          </p:cNvPr>
          <p:cNvSpPr txBox="1"/>
          <p:nvPr/>
        </p:nvSpPr>
        <p:spPr>
          <a:xfrm>
            <a:off x="5043972" y="4370662"/>
            <a:ext cx="46745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The GITSIM </a:t>
            </a:r>
            <a:r>
              <a:rPr lang="it-IT" dirty="0" err="1"/>
              <a:t>should</a:t>
            </a:r>
            <a:r>
              <a:rPr lang="it-IT" dirty="0"/>
              <a:t> generate the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signals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would</a:t>
            </a:r>
            <a:r>
              <a:rPr lang="it-IT" dirty="0"/>
              <a:t> come from the </a:t>
            </a:r>
            <a:r>
              <a:rPr lang="it-IT" dirty="0" err="1"/>
              <a:t>sensor</a:t>
            </a:r>
            <a:r>
              <a:rPr lang="it-IT" dirty="0"/>
              <a:t> </a:t>
            </a:r>
            <a:r>
              <a:rPr lang="it-IT" dirty="0" err="1"/>
              <a:t>shown</a:t>
            </a:r>
            <a:r>
              <a:rPr lang="it-IT" dirty="0"/>
              <a:t> in the image </a:t>
            </a:r>
            <a:r>
              <a:rPr lang="it-IT" dirty="0" err="1"/>
              <a:t>above</a:t>
            </a:r>
            <a:r>
              <a:rPr lang="it-IT" dirty="0"/>
              <a:t>.</a:t>
            </a:r>
            <a:endParaRPr lang="it-IT" i="1" dirty="0"/>
          </a:p>
        </p:txBody>
      </p:sp>
    </p:spTree>
    <p:extLst>
      <p:ext uri="{BB962C8B-B14F-4D97-AF65-F5344CB8AC3E}">
        <p14:creationId xmlns:p14="http://schemas.microsoft.com/office/powerpoint/2010/main" val="1199445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E8BD4-0225-73D8-6DFB-7629F5E54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58EFF304-A581-B597-B1CF-CB8AE8E33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308" y="548680"/>
            <a:ext cx="11233149" cy="1296144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Project: </a:t>
            </a:r>
            <a:r>
              <a:rPr lang="it-IT" sz="3600" dirty="0" err="1"/>
              <a:t>Incremental</a:t>
            </a:r>
            <a:r>
              <a:rPr lang="it-IT" sz="3600" dirty="0"/>
              <a:t> encoder emulator </a:t>
            </a:r>
            <a:r>
              <a:rPr lang="it-IT" sz="3600" dirty="0" err="1"/>
              <a:t>realized</a:t>
            </a:r>
            <a:r>
              <a:rPr lang="it-IT" sz="3600" dirty="0"/>
              <a:t> with FPGA</a:t>
            </a:r>
            <a:endParaRPr lang="en-US" sz="360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04F5BB1-116E-AED8-DBC4-F476386445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003" y="1863524"/>
            <a:ext cx="5304660" cy="3869731"/>
          </a:xfrm>
        </p:spPr>
        <p:txBody>
          <a:bodyPr>
            <a:normAutofit lnSpcReduction="10000"/>
          </a:bodyPr>
          <a:lstStyle/>
          <a:p>
            <a:r>
              <a:rPr lang="it-IT" dirty="0"/>
              <a:t>For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thesis</a:t>
            </a:r>
            <a:r>
              <a:rPr lang="it-IT" dirty="0"/>
              <a:t> project, an </a:t>
            </a:r>
            <a:r>
              <a:rPr lang="it-IT" dirty="0" err="1"/>
              <a:t>incremental</a:t>
            </a:r>
            <a:r>
              <a:rPr lang="it-IT" dirty="0"/>
              <a:t> encoder emulator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implemented</a:t>
            </a:r>
            <a:r>
              <a:rPr lang="it-IT" dirty="0"/>
              <a:t> on the Cora-Z7 board, </a:t>
            </a:r>
            <a:r>
              <a:rPr lang="it-IT" dirty="0" err="1"/>
              <a:t>manufactured</a:t>
            </a:r>
            <a:r>
              <a:rPr lang="it-IT" dirty="0"/>
              <a:t> by </a:t>
            </a:r>
            <a:r>
              <a:rPr lang="it-IT" dirty="0" err="1"/>
              <a:t>Digilent</a:t>
            </a:r>
            <a:r>
              <a:rPr lang="it-IT" dirty="0"/>
              <a:t>.</a:t>
            </a:r>
            <a:br>
              <a:rPr lang="it-IT" dirty="0"/>
            </a:br>
            <a:br>
              <a:rPr lang="it-IT" dirty="0"/>
            </a:br>
            <a:r>
              <a:rPr lang="it-IT" dirty="0"/>
              <a:t>The device, </a:t>
            </a:r>
            <a:r>
              <a:rPr lang="it-IT" dirty="0" err="1"/>
              <a:t>called</a:t>
            </a:r>
            <a:r>
              <a:rPr lang="it-IT" dirty="0"/>
              <a:t> GITSIM,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capable</a:t>
            </a:r>
            <a:r>
              <a:rPr lang="it-IT" dirty="0"/>
              <a:t> of </a:t>
            </a:r>
            <a:r>
              <a:rPr lang="it-IT" dirty="0" err="1"/>
              <a:t>simulating</a:t>
            </a:r>
            <a:r>
              <a:rPr lang="it-IT" dirty="0"/>
              <a:t> 3 encoders </a:t>
            </a:r>
            <a:r>
              <a:rPr lang="it-IT" dirty="0" err="1"/>
              <a:t>simultaneously</a:t>
            </a:r>
            <a:r>
              <a:rPr lang="it-IT" dirty="0"/>
              <a:t> and </a:t>
            </a:r>
            <a:r>
              <a:rPr lang="it-IT" dirty="0" err="1"/>
              <a:t>displaying</a:t>
            </a:r>
            <a:r>
              <a:rPr lang="it-IT" dirty="0"/>
              <a:t> encoder </a:t>
            </a:r>
            <a:r>
              <a:rPr lang="it-IT" dirty="0" err="1"/>
              <a:t>characteristics</a:t>
            </a:r>
            <a:r>
              <a:rPr lang="it-IT" dirty="0"/>
              <a:t>—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speed, </a:t>
            </a:r>
            <a:r>
              <a:rPr lang="it-IT" dirty="0" err="1"/>
              <a:t>generated</a:t>
            </a:r>
            <a:r>
              <a:rPr lang="it-IT" dirty="0"/>
              <a:t> </a:t>
            </a:r>
            <a:r>
              <a:rPr lang="it-IT" dirty="0" err="1"/>
              <a:t>pulses</a:t>
            </a:r>
            <a:r>
              <a:rPr lang="it-IT" dirty="0"/>
              <a:t>, and </a:t>
            </a:r>
            <a:r>
              <a:rPr lang="it-IT" dirty="0" err="1"/>
              <a:t>distance</a:t>
            </a:r>
            <a:r>
              <a:rPr lang="it-IT" dirty="0"/>
              <a:t> </a:t>
            </a:r>
            <a:r>
              <a:rPr lang="it-IT" dirty="0" err="1"/>
              <a:t>traveled</a:t>
            </a:r>
            <a:r>
              <a:rPr lang="it-IT" dirty="0"/>
              <a:t>—in </a:t>
            </a:r>
            <a:r>
              <a:rPr lang="it-IT" dirty="0" err="1"/>
              <a:t>real</a:t>
            </a:r>
            <a:r>
              <a:rPr lang="it-IT" dirty="0"/>
              <a:t> time.</a:t>
            </a:r>
          </a:p>
          <a:p>
            <a:br>
              <a:rPr lang="it-IT" dirty="0"/>
            </a:br>
            <a:r>
              <a:rPr lang="it-IT" dirty="0"/>
              <a:t>To </a:t>
            </a:r>
            <a:r>
              <a:rPr lang="it-IT" dirty="0" err="1"/>
              <a:t>boost</a:t>
            </a:r>
            <a:r>
              <a:rPr lang="it-IT" dirty="0"/>
              <a:t> performance, a </a:t>
            </a:r>
            <a:r>
              <a:rPr lang="it-IT" dirty="0" err="1"/>
              <a:t>portion</a:t>
            </a:r>
            <a:r>
              <a:rPr lang="it-IT" dirty="0"/>
              <a:t> of the project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implemented</a:t>
            </a:r>
            <a:r>
              <a:rPr lang="it-IT" dirty="0"/>
              <a:t> in an FPGA.</a:t>
            </a:r>
          </a:p>
          <a:p>
            <a:r>
              <a:rPr lang="it-IT" dirty="0"/>
              <a:t>The </a:t>
            </a:r>
            <a:r>
              <a:rPr lang="it-IT" dirty="0" err="1"/>
              <a:t>graphical</a:t>
            </a:r>
            <a:r>
              <a:rPr lang="it-IT" dirty="0"/>
              <a:t> </a:t>
            </a:r>
            <a:r>
              <a:rPr lang="it-IT" dirty="0" err="1"/>
              <a:t>interface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developed</a:t>
            </a:r>
            <a:r>
              <a:rPr lang="it-IT" dirty="0"/>
              <a:t> in Python to </a:t>
            </a:r>
            <a:r>
              <a:rPr lang="it-IT" dirty="0" err="1"/>
              <a:t>ensure</a:t>
            </a:r>
            <a:r>
              <a:rPr lang="it-IT" dirty="0"/>
              <a:t> </a:t>
            </a:r>
            <a:r>
              <a:rPr lang="it-IT" dirty="0" err="1"/>
              <a:t>lower</a:t>
            </a:r>
            <a:r>
              <a:rPr lang="it-IT" dirty="0"/>
              <a:t> RAM </a:t>
            </a:r>
            <a:r>
              <a:rPr lang="it-IT" dirty="0" err="1"/>
              <a:t>usage</a:t>
            </a:r>
            <a:r>
              <a:rPr lang="it-IT" dirty="0"/>
              <a:t> </a:t>
            </a:r>
            <a:r>
              <a:rPr lang="it-IT" dirty="0" err="1"/>
              <a:t>compared</a:t>
            </a:r>
            <a:r>
              <a:rPr lang="it-IT" dirty="0"/>
              <a:t> to one </a:t>
            </a:r>
            <a:r>
              <a:rPr lang="it-IT" dirty="0" err="1"/>
              <a:t>developed</a:t>
            </a:r>
            <a:r>
              <a:rPr lang="it-IT" dirty="0"/>
              <a:t> in MATLAB.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79EDEFE-84C8-87A8-B0E9-A265F4180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056" y="2492896"/>
            <a:ext cx="5391902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039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7714-C3AC-444F-8996-426DAD703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658B717E-17D9-0D29-00D7-06B19308F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308" y="548680"/>
            <a:ext cx="11233149" cy="1296144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Microcontrollor</a:t>
            </a:r>
            <a:r>
              <a:rPr lang="en-US" sz="3600" dirty="0"/>
              <a:t> and SoC (System on Chip)</a:t>
            </a:r>
            <a:endParaRPr lang="en-US" sz="3600" noProof="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F8F4798-A1AA-64F7-EF93-63566301DB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003" y="1863524"/>
            <a:ext cx="5304660" cy="3869731"/>
          </a:xfrm>
        </p:spPr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microcontroller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processor </a:t>
            </a:r>
            <a:r>
              <a:rPr lang="it-IT" dirty="0" err="1"/>
              <a:t>equipped</a:t>
            </a:r>
            <a:r>
              <a:rPr lang="it-IT" dirty="0"/>
              <a:t> with </a:t>
            </a:r>
            <a:r>
              <a:rPr lang="it-IT" dirty="0" err="1"/>
              <a:t>memory</a:t>
            </a:r>
            <a:r>
              <a:rPr lang="it-IT" dirty="0"/>
              <a:t>, timers, ADC and DAC </a:t>
            </a:r>
            <a:r>
              <a:rPr lang="it-IT" dirty="0" err="1"/>
              <a:t>converters</a:t>
            </a:r>
            <a:r>
              <a:rPr lang="it-IT" dirty="0"/>
              <a:t>, I/O (</a:t>
            </a:r>
            <a:r>
              <a:rPr lang="it-IT" dirty="0" err="1"/>
              <a:t>parallel</a:t>
            </a:r>
            <a:r>
              <a:rPr lang="it-IT" dirty="0"/>
              <a:t>) pins, and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peripherals</a:t>
            </a:r>
            <a:r>
              <a:rPr lang="it-IT" dirty="0"/>
              <a:t>—</a:t>
            </a:r>
            <a:r>
              <a:rPr lang="it-IT" dirty="0" err="1"/>
              <a:t>all</a:t>
            </a:r>
            <a:r>
              <a:rPr lang="it-IT" dirty="0"/>
              <a:t> on a single chip.</a:t>
            </a:r>
          </a:p>
          <a:p>
            <a:pPr algn="just"/>
            <a:br>
              <a:rPr lang="it-IT" dirty="0"/>
            </a:b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solution</a:t>
            </a:r>
            <a:r>
              <a:rPr lang="it-IT" dirty="0"/>
              <a:t> helps reduce </a:t>
            </a:r>
            <a:r>
              <a:rPr lang="it-IT" dirty="0" err="1"/>
              <a:t>development</a:t>
            </a:r>
            <a:r>
              <a:rPr lang="it-IT" dirty="0"/>
              <a:t> and production costs, </a:t>
            </a:r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offering</a:t>
            </a:r>
            <a:r>
              <a:rPr lang="it-IT" dirty="0"/>
              <a:t>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advantages</a:t>
            </a:r>
            <a:r>
              <a:rPr lang="it-IT" dirty="0"/>
              <a:t>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ease</a:t>
            </a:r>
            <a:r>
              <a:rPr lang="it-IT" dirty="0"/>
              <a:t> of </a:t>
            </a:r>
            <a:r>
              <a:rPr lang="it-IT" dirty="0" err="1"/>
              <a:t>updating</a:t>
            </a:r>
            <a:r>
              <a:rPr lang="it-IT" dirty="0"/>
              <a:t>, </a:t>
            </a:r>
            <a:r>
              <a:rPr lang="it-IT" dirty="0" err="1"/>
              <a:t>lower</a:t>
            </a:r>
            <a:r>
              <a:rPr lang="it-IT" dirty="0"/>
              <a:t> energy </a:t>
            </a:r>
            <a:r>
              <a:rPr lang="it-IT" dirty="0" err="1"/>
              <a:t>consumption</a:t>
            </a:r>
            <a:r>
              <a:rPr lang="it-IT" dirty="0"/>
              <a:t>, and </a:t>
            </a:r>
            <a:r>
              <a:rPr lang="it-IT" dirty="0" err="1"/>
              <a:t>greater</a:t>
            </a:r>
            <a:r>
              <a:rPr lang="it-IT" dirty="0"/>
              <a:t> reliability </a:t>
            </a:r>
            <a:r>
              <a:rPr lang="it-IT" dirty="0" err="1"/>
              <a:t>compared</a:t>
            </a:r>
            <a:r>
              <a:rPr lang="it-IT" dirty="0"/>
              <a:t> to a </a:t>
            </a:r>
            <a:r>
              <a:rPr lang="it-IT" dirty="0" err="1"/>
              <a:t>solution</a:t>
            </a:r>
            <a:r>
              <a:rPr lang="it-IT" dirty="0"/>
              <a:t> </a:t>
            </a:r>
            <a:r>
              <a:rPr lang="it-IT" dirty="0" err="1"/>
              <a:t>where</a:t>
            </a:r>
            <a:r>
              <a:rPr lang="it-IT" dirty="0"/>
              <a:t> the </a:t>
            </a:r>
            <a:r>
              <a:rPr lang="it-IT" dirty="0" err="1"/>
              <a:t>components</a:t>
            </a:r>
            <a:r>
              <a:rPr lang="it-IT" dirty="0"/>
              <a:t> are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integrated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a single chip.</a:t>
            </a:r>
          </a:p>
        </p:txBody>
      </p:sp>
      <p:pic>
        <p:nvPicPr>
          <p:cNvPr id="5" name="Immagine 4" descr="Immagine che contiene testo, diagramm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D78D4E9E-6E26-5D0F-4CCC-80206F12A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2151" y="1813487"/>
            <a:ext cx="5304660" cy="346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02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949EF-AE8E-7A35-EDB1-A7D66B9CA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97477515-FE6B-C5F7-C026-7DDFCACC7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308" y="548680"/>
            <a:ext cx="11233149" cy="1296144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FPGA</a:t>
            </a:r>
            <a:endParaRPr lang="en-US" sz="3600" noProof="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CCA8427-621F-2112-7086-881EDB8A32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003" y="1863524"/>
            <a:ext cx="5304660" cy="3869731"/>
          </a:xfrm>
        </p:spPr>
        <p:txBody>
          <a:bodyPr/>
          <a:lstStyle/>
          <a:p>
            <a:pPr algn="just"/>
            <a:br>
              <a:rPr lang="it-IT" dirty="0"/>
            </a:br>
            <a:r>
              <a:rPr lang="it-IT" dirty="0" err="1"/>
              <a:t>FPGAs</a:t>
            </a:r>
            <a:r>
              <a:rPr lang="it-IT" dirty="0"/>
              <a:t> (Field-</a:t>
            </a:r>
            <a:r>
              <a:rPr lang="it-IT" dirty="0" err="1"/>
              <a:t>Programmable</a:t>
            </a:r>
            <a:r>
              <a:rPr lang="it-IT" dirty="0"/>
              <a:t> Gate Arrays) are </a:t>
            </a:r>
            <a:r>
              <a:rPr lang="it-IT" dirty="0" err="1"/>
              <a:t>reconfigurable</a:t>
            </a:r>
            <a:r>
              <a:rPr lang="it-IT" dirty="0"/>
              <a:t> computer chips </a:t>
            </a:r>
            <a:r>
              <a:rPr lang="it-IT" dirty="0" err="1"/>
              <a:t>that</a:t>
            </a:r>
            <a:r>
              <a:rPr lang="it-IT" dirty="0"/>
              <a:t> can be </a:t>
            </a:r>
            <a:r>
              <a:rPr lang="it-IT" dirty="0" err="1"/>
              <a:t>programmed</a:t>
            </a:r>
            <a:r>
              <a:rPr lang="it-IT" dirty="0"/>
              <a:t> to </a:t>
            </a:r>
            <a:r>
              <a:rPr lang="it-IT" dirty="0" err="1"/>
              <a:t>implement</a:t>
            </a:r>
            <a:r>
              <a:rPr lang="it-IT" dirty="0"/>
              <a:t>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digital</a:t>
            </a:r>
            <a:r>
              <a:rPr lang="it-IT" dirty="0"/>
              <a:t> hardware </a:t>
            </a:r>
            <a:r>
              <a:rPr lang="it-IT" dirty="0" err="1"/>
              <a:t>circuit</a:t>
            </a:r>
            <a:r>
              <a:rPr lang="it-IT" dirty="0"/>
              <a:t>.</a:t>
            </a:r>
          </a:p>
          <a:p>
            <a:pPr algn="just"/>
            <a:br>
              <a:rPr lang="it-IT" dirty="0"/>
            </a:br>
            <a:r>
              <a:rPr lang="it-IT" dirty="0" err="1"/>
              <a:t>FPGAs</a:t>
            </a:r>
            <a:r>
              <a:rPr lang="it-IT" dirty="0"/>
              <a:t> </a:t>
            </a:r>
            <a:r>
              <a:rPr lang="it-IT" dirty="0" err="1"/>
              <a:t>consist</a:t>
            </a:r>
            <a:r>
              <a:rPr lang="it-IT" dirty="0"/>
              <a:t> of an array of </a:t>
            </a:r>
            <a:r>
              <a:rPr lang="it-IT" dirty="0" err="1"/>
              <a:t>various</a:t>
            </a:r>
            <a:r>
              <a:rPr lang="it-IT" dirty="0"/>
              <a:t> </a:t>
            </a:r>
            <a:r>
              <a:rPr lang="it-IT" dirty="0" err="1"/>
              <a:t>types</a:t>
            </a:r>
            <a:r>
              <a:rPr lang="it-IT" dirty="0"/>
              <a:t> of </a:t>
            </a:r>
            <a:r>
              <a:rPr lang="it-IT" dirty="0" err="1"/>
              <a:t>programmable</a:t>
            </a:r>
            <a:r>
              <a:rPr lang="it-IT" dirty="0"/>
              <a:t> </a:t>
            </a:r>
            <a:r>
              <a:rPr lang="it-IT" dirty="0" err="1"/>
              <a:t>blocks</a:t>
            </a:r>
            <a:r>
              <a:rPr lang="it-IT" dirty="0"/>
              <a:t> (</a:t>
            </a:r>
            <a:r>
              <a:rPr lang="it-IT" dirty="0" err="1"/>
              <a:t>logic</a:t>
            </a:r>
            <a:r>
              <a:rPr lang="it-IT" dirty="0"/>
              <a:t>, I/O, and </a:t>
            </a:r>
            <a:r>
              <a:rPr lang="it-IT" dirty="0" err="1"/>
              <a:t>others</a:t>
            </a:r>
            <a:r>
              <a:rPr lang="it-IT" dirty="0"/>
              <a:t>) </a:t>
            </a:r>
            <a:r>
              <a:rPr lang="it-IT" dirty="0" err="1"/>
              <a:t>that</a:t>
            </a:r>
            <a:r>
              <a:rPr lang="it-IT" dirty="0"/>
              <a:t> can be </a:t>
            </a:r>
            <a:r>
              <a:rPr lang="it-IT" dirty="0" err="1"/>
              <a:t>flexibly</a:t>
            </a:r>
            <a:r>
              <a:rPr lang="it-IT" dirty="0"/>
              <a:t> </a:t>
            </a:r>
            <a:r>
              <a:rPr lang="it-IT" dirty="0" err="1"/>
              <a:t>interconnected</a:t>
            </a:r>
            <a:r>
              <a:rPr lang="it-IT" dirty="0"/>
              <a:t> via </a:t>
            </a:r>
            <a:r>
              <a:rPr lang="it-IT" dirty="0" err="1"/>
              <a:t>pre-fabricated</a:t>
            </a:r>
            <a:r>
              <a:rPr lang="it-IT" dirty="0"/>
              <a:t> </a:t>
            </a:r>
            <a:r>
              <a:rPr lang="it-IT" dirty="0" err="1"/>
              <a:t>routing</a:t>
            </a:r>
            <a:r>
              <a:rPr lang="it-IT" dirty="0"/>
              <a:t> </a:t>
            </a:r>
            <a:r>
              <a:rPr lang="it-IT" dirty="0" err="1"/>
              <a:t>paths</a:t>
            </a:r>
            <a:r>
              <a:rPr lang="it-IT" dirty="0"/>
              <a:t> with </a:t>
            </a:r>
            <a:r>
              <a:rPr lang="it-IT" dirty="0" err="1"/>
              <a:t>programmable</a:t>
            </a:r>
            <a:r>
              <a:rPr lang="it-IT" dirty="0"/>
              <a:t> switches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.</a:t>
            </a:r>
          </a:p>
        </p:txBody>
      </p:sp>
      <p:pic>
        <p:nvPicPr>
          <p:cNvPr id="8" name="Immagine 7" descr="Immagine che contiene testo, schermata, Rettangolo, linea&#10;&#10;Il contenuto generato dall'IA potrebbe non essere corretto.">
            <a:extLst>
              <a:ext uri="{FF2B5EF4-FFF2-40B4-BE49-F238E27FC236}">
                <a16:creationId xmlns:a16="http://schemas.microsoft.com/office/drawing/2014/main" id="{8F904118-7CFE-34B9-CD07-40B7606C0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418" y="1340768"/>
            <a:ext cx="4435039" cy="448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379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B7E5E-5CE6-30F2-B324-AD81A768B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6A8D9E36-BD8F-157B-9AF1-DF064E5B43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308" y="548680"/>
            <a:ext cx="11233149" cy="1296144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Project</a:t>
            </a:r>
            <a:r>
              <a:rPr lang="en-US" sz="3600" noProof="0" dirty="0"/>
              <a:t>: </a:t>
            </a:r>
            <a:r>
              <a:rPr lang="it-IT" sz="3600" noProof="0" dirty="0" err="1"/>
              <a:t>Vivado</a:t>
            </a:r>
            <a:r>
              <a:rPr lang="it-IT" sz="3600" noProof="0" dirty="0"/>
              <a:t> and SDK</a:t>
            </a:r>
            <a:endParaRPr lang="en-US" sz="3600" noProof="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DDD11A1-769D-EABF-CC2F-EC9708ED45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002" y="1305130"/>
            <a:ext cx="5304660" cy="3869731"/>
          </a:xfrm>
        </p:spPr>
        <p:txBody>
          <a:bodyPr/>
          <a:lstStyle/>
          <a:p>
            <a:pPr algn="just"/>
            <a:br>
              <a:rPr lang="it-IT" dirty="0"/>
            </a:br>
            <a:r>
              <a:rPr lang="it-IT" dirty="0"/>
              <a:t>For the </a:t>
            </a:r>
            <a:r>
              <a:rPr lang="it-IT" dirty="0" err="1"/>
              <a:t>development</a:t>
            </a:r>
            <a:r>
              <a:rPr lang="it-IT" dirty="0"/>
              <a:t> of </a:t>
            </a:r>
            <a:r>
              <a:rPr lang="it-IT" dirty="0" err="1"/>
              <a:t>this</a:t>
            </a:r>
            <a:r>
              <a:rPr lang="it-IT" dirty="0"/>
              <a:t> project, </a:t>
            </a:r>
            <a:r>
              <a:rPr lang="it-IT" dirty="0" err="1"/>
              <a:t>Vivado</a:t>
            </a:r>
            <a:r>
              <a:rPr lang="it-IT" dirty="0"/>
              <a:t> and SDK—</a:t>
            </a:r>
            <a:r>
              <a:rPr lang="it-IT" dirty="0" err="1"/>
              <a:t>two</a:t>
            </a:r>
            <a:r>
              <a:rPr lang="it-IT" dirty="0"/>
              <a:t> software </a:t>
            </a:r>
            <a:r>
              <a:rPr lang="it-IT" dirty="0" err="1"/>
              <a:t>programs</a:t>
            </a:r>
            <a:r>
              <a:rPr lang="it-IT" dirty="0"/>
              <a:t> </a:t>
            </a:r>
            <a:r>
              <a:rPr lang="it-IT" dirty="0" err="1"/>
              <a:t>provided</a:t>
            </a:r>
            <a:r>
              <a:rPr lang="it-IT" dirty="0"/>
              <a:t> free of </a:t>
            </a:r>
            <a:r>
              <a:rPr lang="it-IT" dirty="0" err="1"/>
              <a:t>charge</a:t>
            </a:r>
            <a:r>
              <a:rPr lang="it-IT" dirty="0"/>
              <a:t> by </a:t>
            </a:r>
            <a:r>
              <a:rPr lang="it-IT" dirty="0" err="1"/>
              <a:t>Xilinx</a:t>
            </a:r>
            <a:r>
              <a:rPr lang="it-IT" dirty="0"/>
              <a:t> (</a:t>
            </a:r>
            <a:r>
              <a:rPr lang="it-IT" dirty="0" err="1"/>
              <a:t>now</a:t>
            </a:r>
            <a:r>
              <a:rPr lang="it-IT" dirty="0"/>
              <a:t> AMD)—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for a </a:t>
            </a:r>
            <a:r>
              <a:rPr lang="it-IT" dirty="0" err="1"/>
              <a:t>specific</a:t>
            </a:r>
            <a:r>
              <a:rPr lang="it-IT" dirty="0"/>
              <a:t> range of boards, </a:t>
            </a:r>
            <a:r>
              <a:rPr lang="it-IT" dirty="0" err="1"/>
              <a:t>including</a:t>
            </a:r>
            <a:r>
              <a:rPr lang="it-IT" dirty="0"/>
              <a:t> the Cora Z7 (the board </a:t>
            </a:r>
            <a:r>
              <a:rPr lang="it-IT" dirty="0" err="1"/>
              <a:t>used</a:t>
            </a:r>
            <a:r>
              <a:rPr lang="it-IT" dirty="0"/>
              <a:t> for </a:t>
            </a:r>
            <a:r>
              <a:rPr lang="it-IT" dirty="0" err="1"/>
              <a:t>this</a:t>
            </a:r>
            <a:r>
              <a:rPr lang="it-IT" dirty="0"/>
              <a:t> project).</a:t>
            </a:r>
          </a:p>
        </p:txBody>
      </p:sp>
      <p:pic>
        <p:nvPicPr>
          <p:cNvPr id="6" name="Immagine 5" descr="Immagine che contiene testo, schermata, Parallelo, diagramma&#10;&#10;Il contenuto generato dall'IA potrebbe non essere corretto.">
            <a:extLst>
              <a:ext uri="{FF2B5EF4-FFF2-40B4-BE49-F238E27FC236}">
                <a16:creationId xmlns:a16="http://schemas.microsoft.com/office/drawing/2014/main" id="{6FFC3ADE-7AEB-5989-26D7-42BF873E14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056" y="1052736"/>
            <a:ext cx="5088636" cy="3014997"/>
          </a:xfrm>
          <a:prstGeom prst="rect">
            <a:avLst/>
          </a:prstGeom>
        </p:spPr>
      </p:pic>
      <p:pic>
        <p:nvPicPr>
          <p:cNvPr id="9" name="Immagine 8" descr="Immagine che contiene testo, schermata, schermo, software&#10;&#10;Il contenuto generato dall'IA potrebbe non essere corretto.">
            <a:extLst>
              <a:ext uri="{FF2B5EF4-FFF2-40B4-BE49-F238E27FC236}">
                <a16:creationId xmlns:a16="http://schemas.microsoft.com/office/drawing/2014/main" id="{1C874B33-4B0D-95A3-F4C7-58254D1CD2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1" y="3645024"/>
            <a:ext cx="5182271" cy="3059674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7986B93-F45B-027D-5E0B-6AD06AEEA59E}"/>
              </a:ext>
            </a:extLst>
          </p:cNvPr>
          <p:cNvSpPr txBox="1"/>
          <p:nvPr/>
        </p:nvSpPr>
        <p:spPr>
          <a:xfrm>
            <a:off x="8889414" y="4149080"/>
            <a:ext cx="2602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/>
              <a:t> </a:t>
            </a:r>
            <a:r>
              <a:rPr lang="it-IT" i="1" dirty="0" err="1"/>
              <a:t>Vivado</a:t>
            </a:r>
            <a:r>
              <a:rPr lang="it-IT" i="1" dirty="0"/>
              <a:t> </a:t>
            </a:r>
            <a:r>
              <a:rPr lang="it-IT" i="1" dirty="0" err="1"/>
              <a:t>grafical</a:t>
            </a:r>
            <a:r>
              <a:rPr lang="it-IT" i="1" dirty="0"/>
              <a:t> </a:t>
            </a:r>
            <a:r>
              <a:rPr lang="it-IT" i="1" dirty="0" err="1"/>
              <a:t>interface</a:t>
            </a:r>
            <a:endParaRPr lang="it-IT" i="1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55C0F70-F5C9-BEC4-2487-86B6C6678CF4}"/>
              </a:ext>
            </a:extLst>
          </p:cNvPr>
          <p:cNvSpPr txBox="1"/>
          <p:nvPr/>
        </p:nvSpPr>
        <p:spPr>
          <a:xfrm>
            <a:off x="6003634" y="6124654"/>
            <a:ext cx="412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/>
              <a:t>SDK </a:t>
            </a:r>
            <a:r>
              <a:rPr lang="it-IT" i="1" dirty="0" err="1"/>
              <a:t>grafical</a:t>
            </a:r>
            <a:r>
              <a:rPr lang="it-IT" i="1" dirty="0"/>
              <a:t> </a:t>
            </a:r>
            <a:r>
              <a:rPr lang="it-IT" i="1" dirty="0" err="1"/>
              <a:t>interface</a:t>
            </a:r>
            <a:r>
              <a:rPr lang="it-IT" i="1" dirty="0"/>
              <a:t>(</a:t>
            </a:r>
            <a:r>
              <a:rPr lang="it-IT" i="1" dirty="0" err="1"/>
              <a:t>based</a:t>
            </a:r>
            <a:r>
              <a:rPr lang="it-IT" i="1" dirty="0"/>
              <a:t> on </a:t>
            </a:r>
            <a:r>
              <a:rPr lang="it-IT" i="1" dirty="0" err="1"/>
              <a:t>eclipse</a:t>
            </a:r>
            <a:r>
              <a:rPr lang="it-IT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91761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A2D2D-B142-63DF-2E92-E8B017578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3683220D-A223-D9AB-7B9B-A7CE3F2D8C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428784"/>
            <a:ext cx="11233149" cy="1128008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Project</a:t>
            </a:r>
            <a:r>
              <a:rPr lang="en-US" sz="3600" noProof="0" dirty="0"/>
              <a:t>: division of tasks between FPGA and</a:t>
            </a:r>
          </a:p>
          <a:p>
            <a:pPr algn="ctr"/>
            <a:r>
              <a:rPr lang="en-US" sz="3600" noProof="0" dirty="0"/>
              <a:t> firmware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BF42863-263A-ED40-A9E5-959C44A2E2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003" y="1863524"/>
            <a:ext cx="5304660" cy="3869731"/>
          </a:xfrm>
        </p:spPr>
        <p:txBody>
          <a:bodyPr/>
          <a:lstStyle/>
          <a:p>
            <a:pPr algn="just"/>
            <a:br>
              <a:rPr lang="it-IT" dirty="0"/>
            </a:br>
            <a:r>
              <a:rPr lang="it-IT" dirty="0"/>
              <a:t>In the project, the </a:t>
            </a:r>
            <a:r>
              <a:rPr lang="it-IT" dirty="0" err="1"/>
              <a:t>formulas</a:t>
            </a:r>
            <a:r>
              <a:rPr lang="it-IT" dirty="0"/>
              <a:t> </a:t>
            </a:r>
            <a:r>
              <a:rPr lang="it-IT" dirty="0" err="1"/>
              <a:t>listed</a:t>
            </a:r>
            <a:r>
              <a:rPr lang="it-IT" dirty="0"/>
              <a:t> on the </a:t>
            </a:r>
            <a:r>
              <a:rPr lang="it-IT" dirty="0" err="1"/>
              <a:t>right</a:t>
            </a:r>
            <a:r>
              <a:rPr lang="it-IT" dirty="0"/>
              <a:t>,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describe</a:t>
            </a:r>
            <a:r>
              <a:rPr lang="it-IT" dirty="0"/>
              <a:t> the </a:t>
            </a:r>
            <a:r>
              <a:rPr lang="it-IT" dirty="0" err="1"/>
              <a:t>behavior</a:t>
            </a:r>
            <a:r>
              <a:rPr lang="it-IT" dirty="0"/>
              <a:t> of an encoder,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implemented</a:t>
            </a:r>
            <a:r>
              <a:rPr lang="it-IT" dirty="0"/>
              <a:t> on an FPGA, </a:t>
            </a:r>
            <a:r>
              <a:rPr lang="it-IT" dirty="0" err="1"/>
              <a:t>achieving</a:t>
            </a:r>
            <a:r>
              <a:rPr lang="it-IT" dirty="0"/>
              <a:t> a </a:t>
            </a:r>
            <a:r>
              <a:rPr lang="it-IT" dirty="0" err="1"/>
              <a:t>pulse</a:t>
            </a:r>
            <a:r>
              <a:rPr lang="it-IT" dirty="0"/>
              <a:t>-generation </a:t>
            </a:r>
            <a:r>
              <a:rPr lang="it-IT" dirty="0" err="1"/>
              <a:t>resolution</a:t>
            </a:r>
            <a:r>
              <a:rPr lang="it-IT" dirty="0"/>
              <a:t> of 50 MHz.</a:t>
            </a:r>
          </a:p>
          <a:p>
            <a:pPr algn="just"/>
            <a:r>
              <a:rPr lang="it-IT" dirty="0"/>
              <a:t> The tasks of </a:t>
            </a:r>
            <a:r>
              <a:rPr lang="it-IT" dirty="0" err="1"/>
              <a:t>exchanging</a:t>
            </a:r>
            <a:r>
              <a:rPr lang="it-IT" dirty="0"/>
              <a:t> </a:t>
            </a:r>
            <a:r>
              <a:rPr lang="it-IT" dirty="0" err="1"/>
              <a:t>messages</a:t>
            </a:r>
            <a:r>
              <a:rPr lang="it-IT" dirty="0"/>
              <a:t> with the GUI (i.e., the personal computer of the device user) and </a:t>
            </a:r>
            <a:r>
              <a:rPr lang="it-IT" dirty="0" err="1"/>
              <a:t>initializing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components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been</a:t>
            </a:r>
            <a:r>
              <a:rPr lang="it-IT" dirty="0"/>
              <a:t> </a:t>
            </a:r>
            <a:r>
              <a:rPr lang="it-IT" dirty="0" err="1"/>
              <a:t>implemented</a:t>
            </a:r>
            <a:r>
              <a:rPr lang="it-IT" dirty="0"/>
              <a:t> in firmware,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serves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an </a:t>
            </a:r>
            <a:r>
              <a:rPr lang="it-IT" dirty="0" err="1"/>
              <a:t>intermediary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the GUI and the FPGA.</a:t>
            </a:r>
          </a:p>
          <a:p>
            <a:pPr algn="just"/>
            <a:endParaRPr lang="it-IT" dirty="0"/>
          </a:p>
        </p:txBody>
      </p:sp>
      <p:pic>
        <p:nvPicPr>
          <p:cNvPr id="5" name="Immagine 4" descr="Immagine che contiene testo, Carattere, calligrafia, bianco&#10;&#10;Il contenuto generato dall'IA potrebbe non essere corretto.">
            <a:extLst>
              <a:ext uri="{FF2B5EF4-FFF2-40B4-BE49-F238E27FC236}">
                <a16:creationId xmlns:a16="http://schemas.microsoft.com/office/drawing/2014/main" id="{75C3AD43-7911-4977-4CD3-E61119DEA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048" y="1225375"/>
            <a:ext cx="4772691" cy="2629267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8AA52ABB-42EC-60D9-7318-6B0A160F5D96}"/>
              </a:ext>
            </a:extLst>
          </p:cNvPr>
          <p:cNvSpPr txBox="1"/>
          <p:nvPr/>
        </p:nvSpPr>
        <p:spPr>
          <a:xfrm>
            <a:off x="6423124" y="3707822"/>
            <a:ext cx="4649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 err="1"/>
              <a:t>Equations</a:t>
            </a:r>
            <a:r>
              <a:rPr lang="it-IT" i="1" dirty="0"/>
              <a:t> </a:t>
            </a:r>
            <a:r>
              <a:rPr lang="it-IT" i="1" dirty="0" err="1"/>
              <a:t>that</a:t>
            </a:r>
            <a:r>
              <a:rPr lang="it-IT" i="1" dirty="0"/>
              <a:t> </a:t>
            </a:r>
            <a:r>
              <a:rPr lang="it-IT" i="1" dirty="0" err="1"/>
              <a:t>describe</a:t>
            </a:r>
            <a:r>
              <a:rPr lang="it-IT" i="1" dirty="0"/>
              <a:t> </a:t>
            </a:r>
            <a:r>
              <a:rPr lang="it-IT" i="1" dirty="0" err="1"/>
              <a:t>incremental</a:t>
            </a:r>
            <a:r>
              <a:rPr lang="it-IT" i="1" dirty="0"/>
              <a:t> encoder</a:t>
            </a:r>
          </a:p>
        </p:txBody>
      </p:sp>
      <p:pic>
        <p:nvPicPr>
          <p:cNvPr id="9" name="Immagine 8" descr="Immagine che contiene Carattere, bianco, testo, calligrafia&#10;&#10;Il contenuto generato dall'IA potrebbe non essere corretto.">
            <a:extLst>
              <a:ext uri="{FF2B5EF4-FFF2-40B4-BE49-F238E27FC236}">
                <a16:creationId xmlns:a16="http://schemas.microsoft.com/office/drawing/2014/main" id="{2DC475BB-A5E6-A91B-CDF0-7E6E8ED089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582" y="5087610"/>
            <a:ext cx="1790950" cy="581106"/>
          </a:xfrm>
          <a:prstGeom prst="rect">
            <a:avLst/>
          </a:prstGeom>
        </p:spPr>
      </p:pic>
      <p:pic>
        <p:nvPicPr>
          <p:cNvPr id="11" name="Immagine 10" descr="Immagine che contiene Carattere, bianco, tipografia, design&#10;&#10;Il contenuto generato dall'IA potrebbe non essere corretto.">
            <a:extLst>
              <a:ext uri="{FF2B5EF4-FFF2-40B4-BE49-F238E27FC236}">
                <a16:creationId xmlns:a16="http://schemas.microsoft.com/office/drawing/2014/main" id="{83D9B2EF-90BD-9E7B-DB37-8E30C40F73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976" y="5671364"/>
            <a:ext cx="1867161" cy="714475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93F0C3D-EB6A-7597-5D34-2A5A3C56C59E}"/>
              </a:ext>
            </a:extLst>
          </p:cNvPr>
          <p:cNvSpPr txBox="1"/>
          <p:nvPr/>
        </p:nvSpPr>
        <p:spPr>
          <a:xfrm>
            <a:off x="8771137" y="4911159"/>
            <a:ext cx="30931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Equations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describe</a:t>
            </a:r>
            <a:r>
              <a:rPr lang="it-IT" dirty="0"/>
              <a:t> the </a:t>
            </a:r>
            <a:r>
              <a:rPr lang="it-IT" dirty="0" err="1"/>
              <a:t>relationship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angular</a:t>
            </a:r>
            <a:r>
              <a:rPr lang="it-IT" dirty="0"/>
              <a:t> </a:t>
            </a:r>
            <a:r>
              <a:rPr lang="it-IT" dirty="0" err="1"/>
              <a:t>velocity</a:t>
            </a:r>
            <a:r>
              <a:rPr lang="it-IT" dirty="0"/>
              <a:t> and position, and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angular</a:t>
            </a:r>
            <a:r>
              <a:rPr lang="it-IT" dirty="0"/>
              <a:t> </a:t>
            </a:r>
            <a:r>
              <a:rPr lang="it-IT" dirty="0" err="1"/>
              <a:t>acceleration</a:t>
            </a:r>
            <a:r>
              <a:rPr lang="it-IT" dirty="0"/>
              <a:t> and </a:t>
            </a:r>
            <a:r>
              <a:rPr lang="it-IT" dirty="0" err="1"/>
              <a:t>angular</a:t>
            </a:r>
            <a:r>
              <a:rPr lang="it-IT" dirty="0"/>
              <a:t> </a:t>
            </a:r>
            <a:r>
              <a:rPr lang="it-IT" dirty="0" err="1"/>
              <a:t>velocity</a:t>
            </a:r>
            <a:r>
              <a:rPr lang="it-IT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A7B7ED1B-7FDC-CBEA-1D86-F32FDBF525E0}"/>
                  </a:ext>
                </a:extLst>
              </p:cNvPr>
              <p:cNvSpPr txBox="1"/>
              <p:nvPr/>
            </p:nvSpPr>
            <p:spPr>
              <a:xfrm>
                <a:off x="263352" y="6190368"/>
                <a:ext cx="5455083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≔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𝑑𝑢𝑡𝑦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𝑐𝑖𝑐𝑙𝑒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≔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𝑡𝑟𝑎𝑣𝑒𝑙𝑒𝑑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𝑝𝑒𝑟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𝑠𝑡𝑒𝑝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A7B7ED1B-7FDC-CBEA-1D86-F32FDBF52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52" y="6190368"/>
                <a:ext cx="5455083" cy="390748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15575A8-5CCF-8A37-3978-61B0D8D4A860}"/>
                  </a:ext>
                </a:extLst>
              </p:cNvPr>
              <p:cNvSpPr txBox="1"/>
              <p:nvPr/>
            </p:nvSpPr>
            <p:spPr>
              <a:xfrm>
                <a:off x="655614" y="5188158"/>
                <a:ext cx="4248472" cy="9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≔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𝑎𝑛𝑔𝑢𝑙𝑎𝑟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𝑝𝑜𝑠𝑖𝑡𝑖𝑜𝑛</m:t>
                      </m:r>
                    </m:oMath>
                  </m:oMathPara>
                </a14:m>
                <a:endParaRPr lang="it-IT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≔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𝑎𝑛𝑔𝑢𝑙𝑎𝑟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𝑣𝑒𝑙𝑜𝑐𝑖𝑡𝑦</m:t>
                      </m:r>
                    </m:oMath>
                  </m:oMathPara>
                </a14:m>
                <a:endParaRPr lang="it-IT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≔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𝑎𝑛𝑔𝑢𝑙𝑎𝑟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𝑎𝑐𝑐𝑒𝑙𝑒𝑟𝑎𝑡𝑖𝑜𝑛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15575A8-5CCF-8A37-3978-61B0D8D4A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14" y="5188158"/>
                <a:ext cx="4248472" cy="916982"/>
              </a:xfrm>
              <a:prstGeom prst="rect">
                <a:avLst/>
              </a:prstGeom>
              <a:blipFill>
                <a:blip r:embed="rId7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4095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8160EF8D-7B52-500B-6EA5-5F9B05341F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it-IT" sz="3600" dirty="0"/>
              <a:t>Circuit </a:t>
            </a:r>
            <a:r>
              <a:rPr lang="it-IT" sz="3600" dirty="0" err="1"/>
              <a:t>implemented</a:t>
            </a:r>
            <a:r>
              <a:rPr lang="it-IT" sz="3600" dirty="0"/>
              <a:t> in FPGA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D9AEFAB-6BF0-75E3-4773-C82D67FE40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892534" y="1268760"/>
            <a:ext cx="1867665" cy="4536504"/>
          </a:xfrm>
        </p:spPr>
        <p:txBody>
          <a:bodyPr/>
          <a:lstStyle/>
          <a:p>
            <a:r>
              <a:rPr lang="it-IT" dirty="0"/>
              <a:t>Design of the </a:t>
            </a:r>
            <a:r>
              <a:rPr lang="it-IT" dirty="0" err="1"/>
              <a:t>logic</a:t>
            </a:r>
            <a:r>
              <a:rPr lang="it-IT" dirty="0"/>
              <a:t> </a:t>
            </a:r>
            <a:r>
              <a:rPr lang="it-IT" dirty="0" err="1"/>
              <a:t>scheme</a:t>
            </a:r>
            <a:r>
              <a:rPr lang="it-IT" dirty="0"/>
              <a:t> </a:t>
            </a:r>
            <a:r>
              <a:rPr lang="it-IT" dirty="0" err="1"/>
              <a:t>implemented</a:t>
            </a:r>
            <a:r>
              <a:rPr lang="it-IT" dirty="0"/>
              <a:t> in an FPGA</a:t>
            </a:r>
          </a:p>
          <a:p>
            <a:endParaRPr lang="it-IT" dirty="0"/>
          </a:p>
          <a:p>
            <a:r>
              <a:rPr lang="it-IT" dirty="0"/>
              <a:t>(Some are in </a:t>
            </a:r>
            <a:r>
              <a:rPr lang="it-IT" dirty="0" err="1"/>
              <a:t>italian</a:t>
            </a:r>
            <a:r>
              <a:rPr lang="it-IT" dirty="0"/>
              <a:t>)</a:t>
            </a:r>
          </a:p>
        </p:txBody>
      </p:sp>
      <p:pic>
        <p:nvPicPr>
          <p:cNvPr id="5" name="Immagine 4" descr="Immagine che contiene diagramma, testo, Disegno tecnico, Piano&#10;&#10;Il contenuto generato dall'IA potrebbe non essere corretto.">
            <a:extLst>
              <a:ext uri="{FF2B5EF4-FFF2-40B4-BE49-F238E27FC236}">
                <a16:creationId xmlns:a16="http://schemas.microsoft.com/office/drawing/2014/main" id="{C7996AE4-733F-12FE-0387-EDFD19061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873952"/>
            <a:ext cx="9768408" cy="549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736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50FD8-3B9D-D62E-9806-9E0C56713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3FB3D8E6-9A78-3DA1-4EBD-5315151144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807" y="692697"/>
            <a:ext cx="11233248" cy="648071"/>
          </a:xfrm>
        </p:spPr>
        <p:txBody>
          <a:bodyPr/>
          <a:lstStyle/>
          <a:p>
            <a:pPr algn="ctr"/>
            <a:r>
              <a:rPr lang="en-US" sz="3600" noProof="0" dirty="0"/>
              <a:t>GUI: Home</a:t>
            </a:r>
          </a:p>
        </p:txBody>
      </p:sp>
      <p:pic>
        <p:nvPicPr>
          <p:cNvPr id="5" name="Immagine 4" descr="Immagine che contiene testo, schermata, software, Pagina Web&#10;&#10;Il contenuto generato dall'IA potrebbe non essere corretto.">
            <a:extLst>
              <a:ext uri="{FF2B5EF4-FFF2-40B4-BE49-F238E27FC236}">
                <a16:creationId xmlns:a16="http://schemas.microsoft.com/office/drawing/2014/main" id="{16BF3F79-C16F-0C09-0E50-624D608BF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856" y="1488271"/>
            <a:ext cx="6795019" cy="3881457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3A6CB2B-6F39-5022-E3F8-3B0C3A1D4ECB}"/>
              </a:ext>
            </a:extLst>
          </p:cNvPr>
          <p:cNvSpPr txBox="1"/>
          <p:nvPr/>
        </p:nvSpPr>
        <p:spPr>
          <a:xfrm>
            <a:off x="630988" y="1779781"/>
            <a:ext cx="37444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it-IT" dirty="0"/>
            </a:br>
            <a:r>
              <a:rPr lang="it-IT" dirty="0">
                <a:latin typeface="Century Gothic" panose="020B0502020202020204" pitchFamily="34" charset="0"/>
              </a:rPr>
              <a:t>The home screen </a:t>
            </a:r>
            <a:r>
              <a:rPr lang="it-IT" dirty="0" err="1">
                <a:latin typeface="Century Gothic" panose="020B0502020202020204" pitchFamily="34" charset="0"/>
              </a:rPr>
              <a:t>allows</a:t>
            </a:r>
            <a:r>
              <a:rPr lang="it-IT" dirty="0">
                <a:latin typeface="Century Gothic" panose="020B0502020202020204" pitchFamily="34" charset="0"/>
              </a:rPr>
              <a:t> the user to </a:t>
            </a:r>
            <a:r>
              <a:rPr lang="it-IT" dirty="0" err="1">
                <a:latin typeface="Century Gothic" panose="020B0502020202020204" pitchFamily="34" charset="0"/>
              </a:rPr>
              <a:t>select</a:t>
            </a:r>
            <a:r>
              <a:rPr lang="it-IT" dirty="0">
                <a:latin typeface="Century Gothic" panose="020B0502020202020204" pitchFamily="34" charset="0"/>
              </a:rPr>
              <a:t> the port to </a:t>
            </a:r>
            <a:r>
              <a:rPr lang="it-IT" dirty="0" err="1">
                <a:latin typeface="Century Gothic" panose="020B0502020202020204" pitchFamily="34" charset="0"/>
              </a:rPr>
              <a:t>which</a:t>
            </a:r>
            <a:r>
              <a:rPr lang="it-IT" dirty="0">
                <a:latin typeface="Century Gothic" panose="020B0502020202020204" pitchFamily="34" charset="0"/>
              </a:rPr>
              <a:t> the device </a:t>
            </a:r>
            <a:r>
              <a:rPr lang="it-IT" dirty="0" err="1">
                <a:latin typeface="Century Gothic" panose="020B0502020202020204" pitchFamily="34" charset="0"/>
              </a:rPr>
              <a:t>is</a:t>
            </a:r>
            <a:r>
              <a:rPr lang="it-IT" dirty="0">
                <a:latin typeface="Century Gothic" panose="020B0502020202020204" pitchFamily="34" charset="0"/>
              </a:rPr>
              <a:t> </a:t>
            </a:r>
            <a:r>
              <a:rPr lang="it-IT" dirty="0" err="1">
                <a:latin typeface="Century Gothic" panose="020B0502020202020204" pitchFamily="34" charset="0"/>
              </a:rPr>
              <a:t>connected</a:t>
            </a:r>
            <a:r>
              <a:rPr lang="it-IT" dirty="0">
                <a:latin typeface="Century Gothic" panose="020B0502020202020204" pitchFamily="34" charset="0"/>
              </a:rPr>
              <a:t>, to </a:t>
            </a:r>
            <a:r>
              <a:rPr lang="it-IT" dirty="0" err="1">
                <a:latin typeface="Century Gothic" panose="020B0502020202020204" pitchFamily="34" charset="0"/>
              </a:rPr>
              <a:t>connect</a:t>
            </a:r>
            <a:r>
              <a:rPr lang="it-IT" dirty="0">
                <a:latin typeface="Century Gothic" panose="020B0502020202020204" pitchFamily="34" charset="0"/>
              </a:rPr>
              <a:t> and </a:t>
            </a:r>
            <a:r>
              <a:rPr lang="it-IT" dirty="0" err="1">
                <a:latin typeface="Century Gothic" panose="020B0502020202020204" pitchFamily="34" charset="0"/>
              </a:rPr>
              <a:t>disconnect</a:t>
            </a:r>
            <a:r>
              <a:rPr lang="it-IT" dirty="0">
                <a:latin typeface="Century Gothic" panose="020B0502020202020204" pitchFamily="34" charset="0"/>
              </a:rPr>
              <a:t>, and to </a:t>
            </a:r>
            <a:r>
              <a:rPr lang="it-IT" dirty="0" err="1">
                <a:latin typeface="Century Gothic" panose="020B0502020202020204" pitchFamily="34" charset="0"/>
              </a:rPr>
              <a:t>enter</a:t>
            </a:r>
            <a:r>
              <a:rPr lang="it-IT" dirty="0">
                <a:latin typeface="Century Gothic" panose="020B0502020202020204" pitchFamily="34" charset="0"/>
              </a:rPr>
              <a:t> the </a:t>
            </a:r>
            <a:r>
              <a:rPr lang="it-IT" dirty="0" err="1">
                <a:latin typeface="Century Gothic" panose="020B0502020202020204" pitchFamily="34" charset="0"/>
              </a:rPr>
              <a:t>parameters</a:t>
            </a:r>
            <a:r>
              <a:rPr lang="it-IT" dirty="0">
                <a:latin typeface="Century Gothic" panose="020B0502020202020204" pitchFamily="34" charset="0"/>
              </a:rPr>
              <a:t> for the encoder-</a:t>
            </a:r>
            <a:r>
              <a:rPr lang="it-IT" dirty="0" err="1">
                <a:latin typeface="Century Gothic" panose="020B0502020202020204" pitchFamily="34" charset="0"/>
              </a:rPr>
              <a:t>wheel</a:t>
            </a:r>
            <a:r>
              <a:rPr lang="it-IT" dirty="0">
                <a:latin typeface="Century Gothic" panose="020B0502020202020204" pitchFamily="34" charset="0"/>
              </a:rPr>
              <a:t> assembly.</a:t>
            </a:r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277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B2F16-AD13-3248-60D8-95E45E94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9852AC7C-7E95-B3ED-122B-58219BBC41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7408" y="548680"/>
            <a:ext cx="11233248" cy="648071"/>
          </a:xfrm>
        </p:spPr>
        <p:txBody>
          <a:bodyPr/>
          <a:lstStyle/>
          <a:p>
            <a:pPr algn="ctr"/>
            <a:r>
              <a:rPr lang="en-US" sz="3600" noProof="0" dirty="0"/>
              <a:t>GUI: </a:t>
            </a:r>
            <a:r>
              <a:rPr lang="en-US" sz="3600" noProof="0" dirty="0" err="1"/>
              <a:t>Measurament</a:t>
            </a:r>
            <a:endParaRPr lang="en-US" sz="3600" noProof="0" dirty="0"/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F1F428A-A1B8-6011-201C-5EAA362477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7408" y="1446638"/>
            <a:ext cx="3672408" cy="3998586"/>
          </a:xfrm>
        </p:spPr>
        <p:txBody>
          <a:bodyPr>
            <a:normAutofit lnSpcReduction="10000"/>
          </a:bodyPr>
          <a:lstStyle/>
          <a:p>
            <a:r>
              <a:rPr lang="it-IT" dirty="0" err="1"/>
              <a:t>This</a:t>
            </a:r>
            <a:r>
              <a:rPr lang="it-IT" dirty="0"/>
              <a:t> page </a:t>
            </a:r>
            <a:r>
              <a:rPr lang="it-IT" dirty="0" err="1"/>
              <a:t>allows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to </a:t>
            </a:r>
            <a:r>
              <a:rPr lang="it-IT" dirty="0" err="1"/>
              <a:t>run</a:t>
            </a:r>
            <a:r>
              <a:rPr lang="it-IT" dirty="0"/>
              <a:t> </a:t>
            </a:r>
            <a:r>
              <a:rPr lang="it-IT" dirty="0" err="1"/>
              <a:t>simple</a:t>
            </a:r>
            <a:r>
              <a:rPr lang="it-IT" dirty="0"/>
              <a:t> </a:t>
            </a:r>
            <a:r>
              <a:rPr lang="it-IT" dirty="0" err="1"/>
              <a:t>simulations</a:t>
            </a:r>
            <a:r>
              <a:rPr lang="it-IT" dirty="0"/>
              <a:t> by </a:t>
            </a:r>
            <a:r>
              <a:rPr lang="it-IT" dirty="0" err="1"/>
              <a:t>entering</a:t>
            </a:r>
            <a:r>
              <a:rPr lang="it-IT" dirty="0"/>
              <a:t> the </a:t>
            </a:r>
            <a:r>
              <a:rPr lang="it-IT" dirty="0" err="1"/>
              <a:t>desired</a:t>
            </a:r>
            <a:r>
              <a:rPr lang="it-IT" dirty="0"/>
              <a:t> </a:t>
            </a:r>
            <a:r>
              <a:rPr lang="it-IT" dirty="0" err="1"/>
              <a:t>velocity</a:t>
            </a:r>
            <a:r>
              <a:rPr lang="it-IT" dirty="0"/>
              <a:t> or </a:t>
            </a:r>
            <a:r>
              <a:rPr lang="it-IT" dirty="0" err="1"/>
              <a:t>acceleration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.</a:t>
            </a:r>
          </a:p>
          <a:p>
            <a:br>
              <a:rPr lang="it-IT" dirty="0"/>
            </a:br>
            <a:r>
              <a:rPr lang="it-IT" dirty="0"/>
              <a:t>Information from the encoders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displayed</a:t>
            </a:r>
            <a:r>
              <a:rPr lang="it-IT" dirty="0"/>
              <a:t> (speed, </a:t>
            </a:r>
            <a:r>
              <a:rPr lang="it-IT" dirty="0" err="1"/>
              <a:t>distance</a:t>
            </a:r>
            <a:r>
              <a:rPr lang="it-IT" dirty="0"/>
              <a:t> </a:t>
            </a:r>
            <a:r>
              <a:rPr lang="it-IT" dirty="0" err="1"/>
              <a:t>traveled</a:t>
            </a:r>
            <a:r>
              <a:rPr lang="it-IT" dirty="0"/>
              <a:t>, and </a:t>
            </a:r>
            <a:r>
              <a:rPr lang="it-IT" dirty="0" err="1"/>
              <a:t>pulses</a:t>
            </a:r>
            <a:r>
              <a:rPr lang="it-IT" dirty="0"/>
              <a:t> </a:t>
            </a:r>
            <a:r>
              <a:rPr lang="it-IT" dirty="0" err="1"/>
              <a:t>generated</a:t>
            </a:r>
            <a:r>
              <a:rPr lang="it-IT" dirty="0"/>
              <a:t>).</a:t>
            </a:r>
          </a:p>
          <a:p>
            <a:r>
              <a:rPr lang="it-IT" dirty="0"/>
              <a:t>You can </a:t>
            </a:r>
            <a:r>
              <a:rPr lang="it-IT" dirty="0" err="1"/>
              <a:t>choose</a:t>
            </a:r>
            <a:r>
              <a:rPr lang="it-IT" dirty="0"/>
              <a:t> </a:t>
            </a:r>
            <a:r>
              <a:rPr lang="it-IT" dirty="0" err="1"/>
              <a:t>which</a:t>
            </a:r>
            <a:r>
              <a:rPr lang="it-IT" dirty="0"/>
              <a:t> encoder to simulate </a:t>
            </a:r>
            <a:r>
              <a:rPr lang="it-IT" dirty="0" err="1"/>
              <a:t>using</a:t>
            </a:r>
            <a:r>
              <a:rPr lang="it-IT" dirty="0"/>
              <a:t> the </a:t>
            </a:r>
            <a:r>
              <a:rPr lang="it-IT" dirty="0" err="1"/>
              <a:t>buttons</a:t>
            </a:r>
            <a:r>
              <a:rPr lang="it-IT" dirty="0"/>
              <a:t> in the bottom-</a:t>
            </a:r>
            <a:r>
              <a:rPr lang="it-IT" dirty="0" err="1"/>
              <a:t>left</a:t>
            </a:r>
            <a:r>
              <a:rPr lang="it-IT" dirty="0"/>
              <a:t> corner.</a:t>
            </a:r>
          </a:p>
          <a:p>
            <a:r>
              <a:rPr lang="it-IT" dirty="0"/>
              <a:t>By default, speed and </a:t>
            </a:r>
            <a:r>
              <a:rPr lang="it-IT" dirty="0" err="1"/>
              <a:t>acceleration</a:t>
            </a:r>
            <a:r>
              <a:rPr lang="it-IT" dirty="0"/>
              <a:t> are set to 0.</a:t>
            </a:r>
          </a:p>
        </p:txBody>
      </p:sp>
      <p:pic>
        <p:nvPicPr>
          <p:cNvPr id="4" name="Immagine 3" descr="Immagine che contiene testo, schermata, numero, diagramma&#10;&#10;Il contenuto generato dall'IA potrebbe non essere corretto.">
            <a:extLst>
              <a:ext uri="{FF2B5EF4-FFF2-40B4-BE49-F238E27FC236}">
                <a16:creationId xmlns:a16="http://schemas.microsoft.com/office/drawing/2014/main" id="{22EFA32D-46AC-D458-D7BC-B744D121F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848" y="1340768"/>
            <a:ext cx="7143075" cy="408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535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83E94-568D-1AE8-7AC2-2297A16EA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0FB90B8E-044D-56DC-9910-08709BD505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7408" y="548680"/>
            <a:ext cx="11233248" cy="648071"/>
          </a:xfrm>
        </p:spPr>
        <p:txBody>
          <a:bodyPr/>
          <a:lstStyle/>
          <a:p>
            <a:pPr algn="ctr"/>
            <a:r>
              <a:rPr lang="en-US" sz="3600" noProof="0" dirty="0"/>
              <a:t>GUI: Curve emulation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6068C67-6251-FBB7-67A6-FC325A4F75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7408" y="1446638"/>
            <a:ext cx="3672408" cy="3998586"/>
          </a:xfrm>
        </p:spPr>
        <p:txBody>
          <a:bodyPr>
            <a:normAutofit/>
          </a:bodyPr>
          <a:lstStyle/>
          <a:p>
            <a:r>
              <a:rPr lang="it-IT" dirty="0" err="1"/>
              <a:t>This</a:t>
            </a:r>
            <a:r>
              <a:rPr lang="it-IT" dirty="0"/>
              <a:t> page </a:t>
            </a:r>
            <a:r>
              <a:rPr lang="it-IT" dirty="0" err="1"/>
              <a:t>allows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to simulate encoders by </a:t>
            </a:r>
            <a:r>
              <a:rPr lang="it-IT" dirty="0" err="1"/>
              <a:t>inputting</a:t>
            </a:r>
            <a:r>
              <a:rPr lang="it-IT" dirty="0"/>
              <a:t> </a:t>
            </a:r>
            <a:r>
              <a:rPr lang="it-IT" dirty="0" err="1"/>
              <a:t>velocity</a:t>
            </a:r>
            <a:r>
              <a:rPr lang="it-IT" dirty="0"/>
              <a:t> or </a:t>
            </a:r>
            <a:r>
              <a:rPr lang="it-IT" dirty="0" err="1"/>
              <a:t>acceleration</a:t>
            </a:r>
            <a:r>
              <a:rPr lang="it-IT" dirty="0"/>
              <a:t> </a:t>
            </a:r>
            <a:r>
              <a:rPr lang="it-IT" dirty="0" err="1"/>
              <a:t>trajectories</a:t>
            </a:r>
            <a:r>
              <a:rPr lang="it-IT" dirty="0"/>
              <a:t> (e.g., via an Excel file).</a:t>
            </a:r>
          </a:p>
          <a:p>
            <a:r>
              <a:rPr lang="it-IT" dirty="0"/>
              <a:t>The </a:t>
            </a:r>
            <a:r>
              <a:rPr lang="it-IT" dirty="0" err="1"/>
              <a:t>trajectories</a:t>
            </a:r>
            <a:r>
              <a:rPr lang="it-IT" dirty="0"/>
              <a:t> are </a:t>
            </a:r>
            <a:r>
              <a:rPr lang="it-IT" dirty="0" err="1"/>
              <a:t>displayed</a:t>
            </a:r>
            <a:r>
              <a:rPr lang="it-IT" dirty="0"/>
              <a:t> on the screen; the </a:t>
            </a:r>
            <a:r>
              <a:rPr lang="it-IT" dirty="0" err="1"/>
              <a:t>vertical</a:t>
            </a:r>
            <a:r>
              <a:rPr lang="it-IT" dirty="0"/>
              <a:t> green line </a:t>
            </a:r>
            <a:r>
              <a:rPr lang="it-IT" dirty="0" err="1"/>
              <a:t>indicates</a:t>
            </a:r>
            <a:r>
              <a:rPr lang="it-IT" dirty="0"/>
              <a:t> </a:t>
            </a:r>
            <a:r>
              <a:rPr lang="it-IT" dirty="0" err="1"/>
              <a:t>our</a:t>
            </a:r>
            <a:r>
              <a:rPr lang="it-IT" dirty="0"/>
              <a:t> </a:t>
            </a:r>
            <a:r>
              <a:rPr lang="it-IT" dirty="0" err="1"/>
              <a:t>current</a:t>
            </a:r>
            <a:r>
              <a:rPr lang="it-IT" dirty="0"/>
              <a:t> position </a:t>
            </a:r>
            <a:r>
              <a:rPr lang="it-IT" dirty="0" err="1"/>
              <a:t>within</a:t>
            </a:r>
            <a:r>
              <a:rPr lang="it-IT" dirty="0"/>
              <a:t> the </a:t>
            </a:r>
            <a:r>
              <a:rPr lang="it-IT" dirty="0" err="1"/>
              <a:t>simulation</a:t>
            </a:r>
            <a:r>
              <a:rPr lang="it-IT" dirty="0"/>
              <a:t>.</a:t>
            </a:r>
          </a:p>
          <a:p>
            <a:br>
              <a:rPr lang="it-IT" dirty="0"/>
            </a:br>
            <a:r>
              <a:rPr lang="it-IT" dirty="0"/>
              <a:t>Encoder information can be </a:t>
            </a:r>
            <a:r>
              <a:rPr lang="it-IT" dirty="0" err="1"/>
              <a:t>viewed</a:t>
            </a:r>
            <a:r>
              <a:rPr lang="it-IT" dirty="0"/>
              <a:t> on the </a:t>
            </a:r>
            <a:r>
              <a:rPr lang="it-IT" dirty="0" err="1"/>
              <a:t>Measurement</a:t>
            </a:r>
            <a:r>
              <a:rPr lang="it-IT" dirty="0"/>
              <a:t> page, </a:t>
            </a:r>
            <a:r>
              <a:rPr lang="it-IT" dirty="0" err="1"/>
              <a:t>even</a:t>
            </a:r>
            <a:r>
              <a:rPr lang="it-IT" dirty="0"/>
              <a:t> </a:t>
            </a:r>
            <a:r>
              <a:rPr lang="it-IT" dirty="0" err="1"/>
              <a:t>while</a:t>
            </a:r>
            <a:r>
              <a:rPr lang="it-IT" dirty="0"/>
              <a:t> a </a:t>
            </a:r>
            <a:r>
              <a:rPr lang="it-IT" dirty="0" err="1"/>
              <a:t>simulation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running.</a:t>
            </a:r>
            <a:endParaRPr lang="en-US" noProof="0" dirty="0"/>
          </a:p>
        </p:txBody>
      </p:sp>
      <p:pic>
        <p:nvPicPr>
          <p:cNvPr id="5" name="Immagine 4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D45722D1-A7A9-CBE9-C900-0255EEB1A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142" y="1508192"/>
            <a:ext cx="6945175" cy="399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914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59095-F229-1F2E-F6F0-50358AD26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956461F8-F8DB-FFF2-17B0-C56DACD75F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476672"/>
            <a:ext cx="11233149" cy="64807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noProof="0" dirty="0"/>
              <a:t>Example of log: 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89277B2-320A-4A4F-F838-864AB230BF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43472" y="1556792"/>
            <a:ext cx="5184576" cy="3960440"/>
          </a:xfrm>
        </p:spPr>
        <p:txBody>
          <a:bodyPr>
            <a:normAutofit/>
          </a:bodyPr>
          <a:lstStyle/>
          <a:p>
            <a:br>
              <a:rPr lang="it-IT" dirty="0"/>
            </a:br>
            <a:r>
              <a:rPr lang="it-IT" dirty="0" err="1"/>
              <a:t>When</a:t>
            </a:r>
            <a:r>
              <a:rPr lang="it-IT" dirty="0"/>
              <a:t> a </a:t>
            </a:r>
            <a:r>
              <a:rPr lang="it-IT" dirty="0" err="1"/>
              <a:t>trajectory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simulated</a:t>
            </a:r>
            <a:r>
              <a:rPr lang="it-IT" dirty="0"/>
              <a:t>, a log file (an Excel </a:t>
            </a:r>
            <a:r>
              <a:rPr lang="it-IT" dirty="0" err="1"/>
              <a:t>table</a:t>
            </a:r>
            <a:r>
              <a:rPr lang="it-IT" dirty="0"/>
              <a:t>)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, </a:t>
            </a:r>
            <a:r>
              <a:rPr lang="it-IT" dirty="0" err="1"/>
              <a:t>containing</a:t>
            </a:r>
            <a:r>
              <a:rPr lang="it-IT" dirty="0"/>
              <a:t> the </a:t>
            </a:r>
            <a:r>
              <a:rPr lang="it-IT" dirty="0" err="1"/>
              <a:t>velocity</a:t>
            </a:r>
            <a:r>
              <a:rPr lang="it-IT" dirty="0"/>
              <a:t> and </a:t>
            </a:r>
            <a:r>
              <a:rPr lang="it-IT" dirty="0" err="1"/>
              <a:t>pulse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 ​​</a:t>
            </a:r>
            <a:r>
              <a:rPr lang="it-IT" dirty="0" err="1"/>
              <a:t>generated</a:t>
            </a:r>
            <a:r>
              <a:rPr lang="it-IT" dirty="0"/>
              <a:t> by the </a:t>
            </a:r>
            <a:r>
              <a:rPr lang="it-IT" dirty="0" err="1"/>
              <a:t>three</a:t>
            </a:r>
            <a:r>
              <a:rPr lang="it-IT" dirty="0"/>
              <a:t> encoders. </a:t>
            </a:r>
          </a:p>
          <a:p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 ​​are </a:t>
            </a:r>
            <a:r>
              <a:rPr lang="it-IT" dirty="0" err="1"/>
              <a:t>updated</a:t>
            </a:r>
            <a:r>
              <a:rPr lang="it-IT" dirty="0"/>
              <a:t> </a:t>
            </a:r>
            <a:r>
              <a:rPr lang="it-IT" dirty="0" err="1"/>
              <a:t>every</a:t>
            </a:r>
            <a:r>
              <a:rPr lang="it-IT" dirty="0"/>
              <a:t> 50 </a:t>
            </a:r>
            <a:r>
              <a:rPr lang="it-IT" dirty="0" err="1"/>
              <a:t>milliseconds</a:t>
            </a:r>
            <a:r>
              <a:rPr lang="it-IT" dirty="0"/>
              <a:t>. </a:t>
            </a:r>
          </a:p>
          <a:p>
            <a:r>
              <a:rPr lang="it-IT" dirty="0"/>
              <a:t>The data </a:t>
            </a:r>
            <a:r>
              <a:rPr lang="it-IT" dirty="0" err="1"/>
              <a:t>recorded</a:t>
            </a:r>
            <a:r>
              <a:rPr lang="it-IT" dirty="0"/>
              <a:t> in the log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measured</a:t>
            </a:r>
            <a:r>
              <a:rPr lang="it-IT" dirty="0"/>
              <a:t> </a:t>
            </a:r>
            <a:r>
              <a:rPr lang="it-IT" dirty="0" err="1"/>
              <a:t>directly</a:t>
            </a:r>
            <a:r>
              <a:rPr lang="it-IT" dirty="0"/>
              <a:t> by the FPGA and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sent</a:t>
            </a:r>
            <a:r>
              <a:rPr lang="it-IT" dirty="0"/>
              <a:t> to the GUI.</a:t>
            </a:r>
            <a:endParaRPr lang="en-US" noProof="0" dirty="0"/>
          </a:p>
        </p:txBody>
      </p:sp>
      <p:pic>
        <p:nvPicPr>
          <p:cNvPr id="4" name="Immagine 3" descr="Immagine che contiene testo, schermata, numero, Parallelo&#10;&#10;Il contenuto generato dall'IA potrebbe non essere corretto.">
            <a:extLst>
              <a:ext uri="{FF2B5EF4-FFF2-40B4-BE49-F238E27FC236}">
                <a16:creationId xmlns:a16="http://schemas.microsoft.com/office/drawing/2014/main" id="{FF3817CE-50A5-CEB7-5C06-FC14314F8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24" y="1174602"/>
            <a:ext cx="3131995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300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B9854-48BD-0AB0-2CA1-A60179995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78349343-417D-5216-9B98-D72D2A641D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476672"/>
            <a:ext cx="11233149" cy="64807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noProof="0" dirty="0"/>
              <a:t>Problems solutions: </a:t>
            </a:r>
          </a:p>
          <a:p>
            <a:pPr algn="ctr">
              <a:lnSpc>
                <a:spcPct val="100000"/>
              </a:lnSpc>
            </a:pPr>
            <a:r>
              <a:rPr lang="en-US" sz="3600" noProof="0" dirty="0"/>
              <a:t>Implementations of buffer to avoid loss of messages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FE273198-04F7-B87B-920F-1321E7AE25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83432" y="2780928"/>
            <a:ext cx="10081120" cy="3168352"/>
          </a:xfrm>
        </p:spPr>
        <p:txBody>
          <a:bodyPr>
            <a:normAutofit/>
          </a:bodyPr>
          <a:lstStyle/>
          <a:p>
            <a:r>
              <a:rPr lang="it-IT" dirty="0"/>
              <a:t>The GUI and GITSIM </a:t>
            </a:r>
            <a:r>
              <a:rPr lang="it-IT" dirty="0" err="1"/>
              <a:t>exchange</a:t>
            </a:r>
            <a:r>
              <a:rPr lang="it-IT" dirty="0"/>
              <a:t> </a:t>
            </a:r>
            <a:r>
              <a:rPr lang="it-IT" dirty="0" err="1"/>
              <a:t>messages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the following </a:t>
            </a:r>
            <a:r>
              <a:rPr lang="it-IT" dirty="0" err="1"/>
              <a:t>protocol</a:t>
            </a:r>
            <a:r>
              <a:rPr lang="it-IT" dirty="0"/>
              <a:t>: </a:t>
            </a:r>
            <a:r>
              <a:rPr lang="it-IT" dirty="0" err="1"/>
              <a:t>every</a:t>
            </a:r>
            <a:r>
              <a:rPr lang="it-IT" dirty="0"/>
              <a:t> 50 </a:t>
            </a:r>
            <a:r>
              <a:rPr lang="it-IT" dirty="0" err="1"/>
              <a:t>milliseconds</a:t>
            </a:r>
            <a:r>
              <a:rPr lang="it-IT" dirty="0"/>
              <a:t>, GITSIM </a:t>
            </a:r>
            <a:r>
              <a:rPr lang="it-IT" dirty="0" err="1"/>
              <a:t>sends</a:t>
            </a:r>
            <a:r>
              <a:rPr lang="it-IT" dirty="0"/>
              <a:t> a </a:t>
            </a:r>
            <a:r>
              <a:rPr lang="it-IT" dirty="0" err="1"/>
              <a:t>message</a:t>
            </a:r>
            <a:r>
              <a:rPr lang="it-IT" dirty="0"/>
              <a:t> to the GUI </a:t>
            </a:r>
            <a:r>
              <a:rPr lang="it-IT" dirty="0" err="1"/>
              <a:t>containing</a:t>
            </a:r>
            <a:r>
              <a:rPr lang="it-IT" dirty="0"/>
              <a:t> information on the speed and </a:t>
            </a:r>
            <a:r>
              <a:rPr lang="it-IT" dirty="0" err="1"/>
              <a:t>pulses</a:t>
            </a:r>
            <a:r>
              <a:rPr lang="it-IT" dirty="0"/>
              <a:t> </a:t>
            </a:r>
            <a:r>
              <a:rPr lang="it-IT" dirty="0" err="1"/>
              <a:t>generated</a:t>
            </a:r>
            <a:r>
              <a:rPr lang="it-IT" dirty="0"/>
              <a:t>. </a:t>
            </a:r>
            <a:r>
              <a:rPr lang="it-IT" dirty="0" err="1"/>
              <a:t>Upon</a:t>
            </a:r>
            <a:r>
              <a:rPr lang="it-IT" dirty="0"/>
              <a:t> </a:t>
            </a:r>
            <a:r>
              <a:rPr lang="it-IT" dirty="0" err="1"/>
              <a:t>receiving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message</a:t>
            </a:r>
            <a:r>
              <a:rPr lang="it-IT" dirty="0"/>
              <a:t>, the GUI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immediately</a:t>
            </a:r>
            <a:r>
              <a:rPr lang="it-IT" dirty="0"/>
              <a:t> </a:t>
            </a:r>
            <a:r>
              <a:rPr lang="it-IT" dirty="0" err="1"/>
              <a:t>respond</a:t>
            </a:r>
            <a:r>
              <a:rPr lang="it-IT" dirty="0"/>
              <a:t> with a </a:t>
            </a:r>
            <a:r>
              <a:rPr lang="it-IT" dirty="0" err="1"/>
              <a:t>message</a:t>
            </a:r>
            <a:r>
              <a:rPr lang="it-IT" dirty="0"/>
              <a:t> </a:t>
            </a:r>
            <a:r>
              <a:rPr lang="it-IT" dirty="0" err="1"/>
              <a:t>containing</a:t>
            </a:r>
            <a:r>
              <a:rPr lang="it-IT" dirty="0"/>
              <a:t> </a:t>
            </a:r>
            <a:r>
              <a:rPr lang="it-IT" dirty="0" err="1"/>
              <a:t>instructions</a:t>
            </a:r>
            <a:r>
              <a:rPr lang="it-IT" dirty="0"/>
              <a:t> for GITSIM.</a:t>
            </a:r>
          </a:p>
          <a:p>
            <a:pPr algn="just"/>
            <a:br>
              <a:rPr lang="it-IT" dirty="0"/>
            </a:br>
            <a:r>
              <a:rPr lang="it-IT" dirty="0"/>
              <a:t>To </a:t>
            </a:r>
            <a:r>
              <a:rPr lang="it-IT" dirty="0" err="1"/>
              <a:t>avoid</a:t>
            </a:r>
            <a:r>
              <a:rPr lang="it-IT" dirty="0"/>
              <a:t> </a:t>
            </a:r>
            <a:r>
              <a:rPr lang="it-IT" dirty="0" err="1"/>
              <a:t>issues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may</a:t>
            </a:r>
            <a:r>
              <a:rPr lang="it-IT" dirty="0"/>
              <a:t> </a:t>
            </a:r>
            <a:r>
              <a:rPr lang="it-IT" dirty="0" err="1"/>
              <a:t>arise</a:t>
            </a:r>
            <a:r>
              <a:rPr lang="it-IT" dirty="0"/>
              <a:t> from a </a:t>
            </a:r>
            <a:r>
              <a:rPr lang="it-IT" dirty="0" err="1"/>
              <a:t>lack</a:t>
            </a:r>
            <a:r>
              <a:rPr lang="it-IT" dirty="0"/>
              <a:t> of </a:t>
            </a:r>
            <a:r>
              <a:rPr lang="it-IT" dirty="0" err="1"/>
              <a:t>synchronization</a:t>
            </a:r>
            <a:r>
              <a:rPr lang="it-IT" dirty="0"/>
              <a:t> of </a:t>
            </a:r>
            <a:r>
              <a:rPr lang="it-IT" dirty="0" err="1"/>
              <a:t>messages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GITSIM and the GUI, input and output buffers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been</a:t>
            </a:r>
            <a:r>
              <a:rPr lang="it-IT" dirty="0"/>
              <a:t> </a:t>
            </a:r>
            <a:r>
              <a:rPr lang="it-IT" dirty="0" err="1"/>
              <a:t>added</a:t>
            </a:r>
            <a:r>
              <a:rPr lang="it-IT" dirty="0"/>
              <a:t> to GITSIM.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97605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6C789-9EF7-4343-375E-A60AD4402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15469109-E1AC-9B13-6825-3108B96688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476672"/>
            <a:ext cx="11233149" cy="64807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noProof="0" dirty="0"/>
              <a:t>Results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55CE71F-7A51-7B53-19A0-C90EBEA902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7210" y="1254080"/>
            <a:ext cx="10081120" cy="3168352"/>
          </a:xfrm>
        </p:spPr>
        <p:txBody>
          <a:bodyPr>
            <a:normAutofit/>
          </a:bodyPr>
          <a:lstStyle/>
          <a:p>
            <a:pPr algn="just"/>
            <a:br>
              <a:rPr lang="it-IT" dirty="0"/>
            </a:br>
            <a:r>
              <a:rPr lang="it-IT" dirty="0"/>
              <a:t>The following slides </a:t>
            </a:r>
            <a:r>
              <a:rPr lang="it-IT" dirty="0" err="1"/>
              <a:t>will</a:t>
            </a:r>
            <a:r>
              <a:rPr lang="it-IT" dirty="0"/>
              <a:t> show the </a:t>
            </a:r>
            <a:r>
              <a:rPr lang="it-IT" dirty="0" err="1"/>
              <a:t>results</a:t>
            </a:r>
            <a:r>
              <a:rPr lang="it-IT" dirty="0"/>
              <a:t> </a:t>
            </a:r>
            <a:r>
              <a:rPr lang="it-IT" dirty="0" err="1"/>
              <a:t>obtained</a:t>
            </a:r>
            <a:r>
              <a:rPr lang="it-IT" dirty="0"/>
              <a:t> by </a:t>
            </a:r>
            <a:r>
              <a:rPr lang="it-IT" dirty="0" err="1"/>
              <a:t>simulating</a:t>
            </a:r>
            <a:r>
              <a:rPr lang="it-IT" dirty="0"/>
              <a:t> </a:t>
            </a:r>
            <a:r>
              <a:rPr lang="it-IT" dirty="0" err="1"/>
              <a:t>several</a:t>
            </a:r>
            <a:r>
              <a:rPr lang="it-IT" dirty="0"/>
              <a:t> </a:t>
            </a:r>
            <a:r>
              <a:rPr lang="it-IT" dirty="0" err="1"/>
              <a:t>typical</a:t>
            </a:r>
            <a:r>
              <a:rPr lang="it-IT" dirty="0"/>
              <a:t> </a:t>
            </a:r>
            <a:r>
              <a:rPr lang="it-IT" dirty="0" err="1"/>
              <a:t>velocity</a:t>
            </a:r>
            <a:r>
              <a:rPr lang="it-IT" dirty="0"/>
              <a:t> and </a:t>
            </a:r>
            <a:r>
              <a:rPr lang="it-IT" dirty="0" err="1"/>
              <a:t>acceleration</a:t>
            </a:r>
            <a:r>
              <a:rPr lang="it-IT" dirty="0"/>
              <a:t> </a:t>
            </a:r>
            <a:r>
              <a:rPr lang="it-IT" dirty="0" err="1"/>
              <a:t>profiles</a:t>
            </a:r>
            <a:r>
              <a:rPr lang="it-IT" dirty="0"/>
              <a:t>.</a:t>
            </a:r>
          </a:p>
          <a:p>
            <a:pPr algn="just"/>
            <a:r>
              <a:rPr lang="it-IT" dirty="0"/>
              <a:t>All </a:t>
            </a:r>
            <a:r>
              <a:rPr lang="it-IT" dirty="0" err="1"/>
              <a:t>distance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 ​​</a:t>
            </a:r>
            <a:r>
              <a:rPr lang="it-IT" dirty="0" err="1"/>
              <a:t>presented</a:t>
            </a:r>
            <a:r>
              <a:rPr lang="it-IT" dirty="0"/>
              <a:t> are </a:t>
            </a:r>
            <a:r>
              <a:rPr lang="it-IT" dirty="0" err="1"/>
              <a:t>expressed</a:t>
            </a:r>
            <a:r>
              <a:rPr lang="it-IT" dirty="0"/>
              <a:t> in </a:t>
            </a:r>
            <a:r>
              <a:rPr lang="it-IT" dirty="0" err="1"/>
              <a:t>meters</a:t>
            </a:r>
            <a:r>
              <a:rPr lang="it-IT" dirty="0"/>
              <a:t>. </a:t>
            </a:r>
          </a:p>
          <a:p>
            <a:pPr algn="just"/>
            <a:r>
              <a:rPr lang="it-IT" dirty="0"/>
              <a:t>In the </a:t>
            </a:r>
            <a:r>
              <a:rPr lang="it-IT" dirty="0" err="1"/>
              <a:t>tests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follow, a </a:t>
            </a:r>
            <a:r>
              <a:rPr lang="it-IT" dirty="0" err="1"/>
              <a:t>comparison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made </a:t>
            </a:r>
            <a:r>
              <a:rPr lang="it-IT" dirty="0" err="1"/>
              <a:t>between</a:t>
            </a:r>
            <a:r>
              <a:rPr lang="it-IT" dirty="0"/>
              <a:t> the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fronts</a:t>
            </a:r>
            <a:r>
              <a:rPr lang="it-IT" dirty="0"/>
              <a:t> </a:t>
            </a:r>
            <a:r>
              <a:rPr lang="it-IT" dirty="0" err="1"/>
              <a:t>predicted</a:t>
            </a:r>
            <a:r>
              <a:rPr lang="it-IT" dirty="0"/>
              <a:t>, the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fronts</a:t>
            </a:r>
            <a:r>
              <a:rPr lang="it-IT" dirty="0"/>
              <a:t> </a:t>
            </a:r>
            <a:r>
              <a:rPr lang="it-IT" dirty="0" err="1"/>
              <a:t>generated</a:t>
            </a:r>
            <a:r>
              <a:rPr lang="it-IT" dirty="0"/>
              <a:t> by the emulator, and the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fronts</a:t>
            </a:r>
            <a:r>
              <a:rPr lang="it-IT" dirty="0"/>
              <a:t> </a:t>
            </a:r>
            <a:r>
              <a:rPr lang="it-IT" dirty="0" err="1"/>
              <a:t>detected</a:t>
            </a:r>
            <a:r>
              <a:rPr lang="it-IT" dirty="0"/>
              <a:t> by the </a:t>
            </a:r>
            <a:r>
              <a:rPr lang="it-IT" dirty="0" err="1"/>
              <a:t>odometry</a:t>
            </a:r>
            <a:r>
              <a:rPr lang="it-IT" dirty="0"/>
              <a:t> system.</a:t>
            </a:r>
            <a:endParaRPr lang="en-US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F1AD6A6F-EEA2-637B-F6F4-DF2FB3A3CB82}"/>
              </a:ext>
            </a:extLst>
          </p:cNvPr>
          <p:cNvSpPr/>
          <p:nvPr/>
        </p:nvSpPr>
        <p:spPr>
          <a:xfrm>
            <a:off x="767190" y="4293096"/>
            <a:ext cx="2448272" cy="15121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Geometric</a:t>
            </a:r>
            <a:r>
              <a:rPr lang="it-IT" dirty="0"/>
              <a:t> </a:t>
            </a:r>
            <a:r>
              <a:rPr lang="it-IT" dirty="0" err="1"/>
              <a:t>profile</a:t>
            </a:r>
            <a:endParaRPr lang="it-IT" dirty="0"/>
          </a:p>
        </p:txBody>
      </p:sp>
      <p:sp>
        <p:nvSpPr>
          <p:cNvPr id="4" name="Freccia a destra 3">
            <a:extLst>
              <a:ext uri="{FF2B5EF4-FFF2-40B4-BE49-F238E27FC236}">
                <a16:creationId xmlns:a16="http://schemas.microsoft.com/office/drawing/2014/main" id="{5D7FFDBC-5E02-1D9A-C982-D112E3BC51D4}"/>
              </a:ext>
            </a:extLst>
          </p:cNvPr>
          <p:cNvSpPr/>
          <p:nvPr/>
        </p:nvSpPr>
        <p:spPr>
          <a:xfrm>
            <a:off x="3215462" y="4869160"/>
            <a:ext cx="1584176" cy="36004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374075E-A1FA-D159-E309-E9FF398E4D6B}"/>
              </a:ext>
            </a:extLst>
          </p:cNvPr>
          <p:cNvSpPr/>
          <p:nvPr/>
        </p:nvSpPr>
        <p:spPr>
          <a:xfrm>
            <a:off x="4799638" y="4329100"/>
            <a:ext cx="2376264" cy="15121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Eumlator</a:t>
            </a:r>
            <a:r>
              <a:rPr lang="it-IT" dirty="0"/>
              <a:t> of </a:t>
            </a:r>
            <a:r>
              <a:rPr lang="it-IT" dirty="0" err="1"/>
              <a:t>impulses</a:t>
            </a:r>
            <a:r>
              <a:rPr lang="it-IT" dirty="0"/>
              <a:t> (GITSIM)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D98B950-FC4A-B718-5669-E0FA695E0FA9}"/>
              </a:ext>
            </a:extLst>
          </p:cNvPr>
          <p:cNvSpPr/>
          <p:nvPr/>
        </p:nvSpPr>
        <p:spPr>
          <a:xfrm>
            <a:off x="8976320" y="4293096"/>
            <a:ext cx="2592288" cy="15121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Odometry</a:t>
            </a:r>
            <a:r>
              <a:rPr lang="it-IT" dirty="0"/>
              <a:t> on </a:t>
            </a:r>
            <a:r>
              <a:rPr lang="it-IT" dirty="0" err="1"/>
              <a:t>train</a:t>
            </a:r>
            <a:endParaRPr lang="it-IT" dirty="0"/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254A5C7D-5DA5-6142-7CB5-CBFDA630142E}"/>
              </a:ext>
            </a:extLst>
          </p:cNvPr>
          <p:cNvCxnSpPr/>
          <p:nvPr/>
        </p:nvCxnSpPr>
        <p:spPr>
          <a:xfrm>
            <a:off x="7175902" y="4437112"/>
            <a:ext cx="1800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D9648D6F-FB35-9A59-9273-9B090402E8A7}"/>
              </a:ext>
            </a:extLst>
          </p:cNvPr>
          <p:cNvCxnSpPr>
            <a:cxnSpLocks/>
          </p:cNvCxnSpPr>
          <p:nvPr/>
        </p:nvCxnSpPr>
        <p:spPr>
          <a:xfrm>
            <a:off x="7175902" y="4581128"/>
            <a:ext cx="1800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1966B174-9E40-26BF-0B34-61258A9259E6}"/>
              </a:ext>
            </a:extLst>
          </p:cNvPr>
          <p:cNvCxnSpPr/>
          <p:nvPr/>
        </p:nvCxnSpPr>
        <p:spPr>
          <a:xfrm>
            <a:off x="7175902" y="4941168"/>
            <a:ext cx="1800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C7B25E60-6B5B-4F28-BBF5-4FC1C203D6F6}"/>
              </a:ext>
            </a:extLst>
          </p:cNvPr>
          <p:cNvCxnSpPr/>
          <p:nvPr/>
        </p:nvCxnSpPr>
        <p:spPr>
          <a:xfrm>
            <a:off x="7175902" y="5085184"/>
            <a:ext cx="1800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C9BC1E72-F0BF-BB0A-AFCD-C5BAD597A061}"/>
              </a:ext>
            </a:extLst>
          </p:cNvPr>
          <p:cNvCxnSpPr/>
          <p:nvPr/>
        </p:nvCxnSpPr>
        <p:spPr>
          <a:xfrm>
            <a:off x="7175902" y="5589240"/>
            <a:ext cx="1800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46F6CC60-0A7B-0015-3629-FAB6B25F34DB}"/>
              </a:ext>
            </a:extLst>
          </p:cNvPr>
          <p:cNvCxnSpPr/>
          <p:nvPr/>
        </p:nvCxnSpPr>
        <p:spPr>
          <a:xfrm>
            <a:off x="7175902" y="5733256"/>
            <a:ext cx="1800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Fumetto: rettangolo 21">
            <a:extLst>
              <a:ext uri="{FF2B5EF4-FFF2-40B4-BE49-F238E27FC236}">
                <a16:creationId xmlns:a16="http://schemas.microsoft.com/office/drawing/2014/main" id="{22ED5045-2C4B-BB5F-E217-8C270BBE928A}"/>
              </a:ext>
            </a:extLst>
          </p:cNvPr>
          <p:cNvSpPr/>
          <p:nvPr/>
        </p:nvSpPr>
        <p:spPr>
          <a:xfrm>
            <a:off x="2855640" y="3533690"/>
            <a:ext cx="3024554" cy="630069"/>
          </a:xfrm>
          <a:prstGeom prst="wedgeRectCallout">
            <a:avLst>
              <a:gd name="adj1" fmla="val -20568"/>
              <a:gd name="adj2" fmla="val 16052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Emulation</a:t>
            </a:r>
            <a:r>
              <a:rPr lang="it-IT" dirty="0"/>
              <a:t> data(</a:t>
            </a:r>
            <a:r>
              <a:rPr lang="it-IT" dirty="0" err="1"/>
              <a:t>velocity</a:t>
            </a:r>
            <a:r>
              <a:rPr lang="it-IT" dirty="0"/>
              <a:t> or </a:t>
            </a:r>
            <a:r>
              <a:rPr lang="it-IT" dirty="0" err="1"/>
              <a:t>acceleration</a:t>
            </a:r>
            <a:r>
              <a:rPr lang="it-IT" dirty="0"/>
              <a:t>)</a:t>
            </a:r>
          </a:p>
        </p:txBody>
      </p:sp>
      <p:sp>
        <p:nvSpPr>
          <p:cNvPr id="23" name="Fumetto: rettangolo 22">
            <a:extLst>
              <a:ext uri="{FF2B5EF4-FFF2-40B4-BE49-F238E27FC236}">
                <a16:creationId xmlns:a16="http://schemas.microsoft.com/office/drawing/2014/main" id="{D3B3C035-052B-608F-43B1-8E0A4B8EF360}"/>
              </a:ext>
            </a:extLst>
          </p:cNvPr>
          <p:cNvSpPr/>
          <p:nvPr/>
        </p:nvSpPr>
        <p:spPr>
          <a:xfrm>
            <a:off x="7169006" y="3533690"/>
            <a:ext cx="2324019" cy="630069"/>
          </a:xfrm>
          <a:prstGeom prst="wedgeRectCallout">
            <a:avLst>
              <a:gd name="adj1" fmla="val -20833"/>
              <a:gd name="adj2" fmla="val 8541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Generated</a:t>
            </a:r>
            <a:r>
              <a:rPr lang="it-IT" dirty="0"/>
              <a:t> </a:t>
            </a:r>
            <a:r>
              <a:rPr lang="it-IT" dirty="0" err="1"/>
              <a:t>impulses</a:t>
            </a:r>
            <a:endParaRPr lang="it-IT" dirty="0"/>
          </a:p>
          <a:p>
            <a:pPr algn="ctr"/>
            <a:r>
              <a:rPr lang="it-IT" dirty="0"/>
              <a:t>(3different encoders)</a:t>
            </a:r>
          </a:p>
        </p:txBody>
      </p:sp>
      <p:sp>
        <p:nvSpPr>
          <p:cNvPr id="24" name="Freccia in giù 23">
            <a:extLst>
              <a:ext uri="{FF2B5EF4-FFF2-40B4-BE49-F238E27FC236}">
                <a16:creationId xmlns:a16="http://schemas.microsoft.com/office/drawing/2014/main" id="{DCBD98C4-A782-8C63-8823-D409649B35C0}"/>
              </a:ext>
            </a:extLst>
          </p:cNvPr>
          <p:cNvSpPr/>
          <p:nvPr/>
        </p:nvSpPr>
        <p:spPr>
          <a:xfrm>
            <a:off x="1487270" y="5805264"/>
            <a:ext cx="1008112" cy="288032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Freccia in giù 24">
            <a:extLst>
              <a:ext uri="{FF2B5EF4-FFF2-40B4-BE49-F238E27FC236}">
                <a16:creationId xmlns:a16="http://schemas.microsoft.com/office/drawing/2014/main" id="{F09A6286-E108-CC79-6AA1-7B30DA1A4636}"/>
              </a:ext>
            </a:extLst>
          </p:cNvPr>
          <p:cNvSpPr/>
          <p:nvPr/>
        </p:nvSpPr>
        <p:spPr>
          <a:xfrm>
            <a:off x="5483714" y="5852625"/>
            <a:ext cx="1008112" cy="288032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Freccia in giù 25">
            <a:extLst>
              <a:ext uri="{FF2B5EF4-FFF2-40B4-BE49-F238E27FC236}">
                <a16:creationId xmlns:a16="http://schemas.microsoft.com/office/drawing/2014/main" id="{A6E47440-6215-5013-2E9E-8BEC17592652}"/>
              </a:ext>
            </a:extLst>
          </p:cNvPr>
          <p:cNvSpPr/>
          <p:nvPr/>
        </p:nvSpPr>
        <p:spPr>
          <a:xfrm>
            <a:off x="9840416" y="5805264"/>
            <a:ext cx="1008112" cy="288032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18A2544D-6198-1FE5-3A01-54F8A1650CA3}"/>
              </a:ext>
            </a:extLst>
          </p:cNvPr>
          <p:cNvSpPr txBox="1"/>
          <p:nvPr/>
        </p:nvSpPr>
        <p:spPr>
          <a:xfrm>
            <a:off x="1016932" y="6196662"/>
            <a:ext cx="21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Teoretical</a:t>
            </a:r>
            <a:r>
              <a:rPr lang="it-IT" dirty="0"/>
              <a:t> </a:t>
            </a:r>
            <a:r>
              <a:rPr lang="it-IT" dirty="0" err="1"/>
              <a:t>impulses</a:t>
            </a:r>
            <a:endParaRPr lang="it-IT" dirty="0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5995F80A-FAD3-B563-98AB-4E863264F247}"/>
              </a:ext>
            </a:extLst>
          </p:cNvPr>
          <p:cNvSpPr txBox="1"/>
          <p:nvPr/>
        </p:nvSpPr>
        <p:spPr>
          <a:xfrm>
            <a:off x="4240492" y="6168987"/>
            <a:ext cx="3410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Impulses</a:t>
            </a:r>
            <a:r>
              <a:rPr lang="it-IT" dirty="0"/>
              <a:t> </a:t>
            </a:r>
            <a:r>
              <a:rPr lang="it-IT" dirty="0" err="1"/>
              <a:t>generated</a:t>
            </a:r>
            <a:r>
              <a:rPr lang="it-IT" dirty="0"/>
              <a:t> from GITSIM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061F6715-69DC-5024-4BE2-53F9D7633A2C}"/>
              </a:ext>
            </a:extLst>
          </p:cNvPr>
          <p:cNvSpPr txBox="1"/>
          <p:nvPr/>
        </p:nvSpPr>
        <p:spPr>
          <a:xfrm>
            <a:off x="8976148" y="6140657"/>
            <a:ext cx="3121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Impulses</a:t>
            </a:r>
            <a:r>
              <a:rPr lang="it-IT" dirty="0"/>
              <a:t> </a:t>
            </a:r>
            <a:r>
              <a:rPr lang="it-IT" dirty="0" err="1"/>
              <a:t>read</a:t>
            </a:r>
            <a:r>
              <a:rPr lang="it-IT" dirty="0"/>
              <a:t> from </a:t>
            </a:r>
            <a:r>
              <a:rPr lang="it-IT" dirty="0" err="1"/>
              <a:t>odometry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41073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12DDB-9223-4BAD-803D-D332F5532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DFB6D940-84DD-E280-9354-FF79A03E46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475395"/>
            <a:ext cx="11233149" cy="64807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noProof="0" dirty="0" err="1"/>
              <a:t>Risultati</a:t>
            </a:r>
            <a:r>
              <a:rPr lang="en-US" sz="3600" noProof="0" dirty="0"/>
              <a:t>: 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BECAA653-DB2E-8452-6DC2-990143EE0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395689"/>
              </p:ext>
            </p:extLst>
          </p:nvPr>
        </p:nvGraphicFramePr>
        <p:xfrm>
          <a:off x="479424" y="4365104"/>
          <a:ext cx="10900512" cy="1888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5128">
                  <a:extLst>
                    <a:ext uri="{9D8B030D-6E8A-4147-A177-3AD203B41FA5}">
                      <a16:colId xmlns:a16="http://schemas.microsoft.com/office/drawing/2014/main" val="509979559"/>
                    </a:ext>
                  </a:extLst>
                </a:gridCol>
                <a:gridCol w="2725128">
                  <a:extLst>
                    <a:ext uri="{9D8B030D-6E8A-4147-A177-3AD203B41FA5}">
                      <a16:colId xmlns:a16="http://schemas.microsoft.com/office/drawing/2014/main" val="4216290476"/>
                    </a:ext>
                  </a:extLst>
                </a:gridCol>
                <a:gridCol w="2725128">
                  <a:extLst>
                    <a:ext uri="{9D8B030D-6E8A-4147-A177-3AD203B41FA5}">
                      <a16:colId xmlns:a16="http://schemas.microsoft.com/office/drawing/2014/main" val="4261677301"/>
                    </a:ext>
                  </a:extLst>
                </a:gridCol>
                <a:gridCol w="2725128">
                  <a:extLst>
                    <a:ext uri="{9D8B030D-6E8A-4147-A177-3AD203B41FA5}">
                      <a16:colId xmlns:a16="http://schemas.microsoft.com/office/drawing/2014/main" val="1420536202"/>
                    </a:ext>
                  </a:extLst>
                </a:gridCol>
              </a:tblGrid>
              <a:tr h="624069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Teorici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Generati e riportati via GITSIM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Odometria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480098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r>
                        <a:rPr lang="it-IT" dirty="0"/>
                        <a:t>Impulsi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81487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81487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81487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815209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r>
                        <a:rPr lang="it-IT" dirty="0"/>
                        <a:t>Distanza percorsa(m)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499,997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500,004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972570"/>
                  </a:ext>
                </a:extLst>
              </a:tr>
            </a:tbl>
          </a:graphicData>
        </a:graphic>
      </p:graphicFrame>
      <p:pic>
        <p:nvPicPr>
          <p:cNvPr id="11" name="Immagine 10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117E44CA-7F2C-A1DC-0115-697720CBB2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968" y="1052736"/>
            <a:ext cx="5571970" cy="318225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EBA5500-7CDF-F742-F278-03C309703620}"/>
              </a:ext>
            </a:extLst>
          </p:cNvPr>
          <p:cNvSpPr txBox="1"/>
          <p:nvPr/>
        </p:nvSpPr>
        <p:spPr>
          <a:xfrm>
            <a:off x="839416" y="1484784"/>
            <a:ext cx="3960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Profilo n.1 </a:t>
            </a:r>
          </a:p>
          <a:p>
            <a:r>
              <a:rPr lang="it-IT" b="1" dirty="0"/>
              <a:t>Tratta di 500 metri percorsa a velocità lenta</a:t>
            </a:r>
          </a:p>
          <a:p>
            <a:r>
              <a:rPr lang="it-IT" dirty="0"/>
              <a:t>Accelerazione e decelerazione costante con velocità massima 10 metri al secondo. </a:t>
            </a:r>
          </a:p>
        </p:txBody>
      </p:sp>
    </p:spTree>
    <p:extLst>
      <p:ext uri="{BB962C8B-B14F-4D97-AF65-F5344CB8AC3E}">
        <p14:creationId xmlns:p14="http://schemas.microsoft.com/office/powerpoint/2010/main" val="2814052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71350-8E14-EC34-8A5D-1D7C7A022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7D1F0478-AD47-EFF2-29D2-6C4058D58A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475395"/>
            <a:ext cx="11233149" cy="64807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noProof="0" dirty="0" err="1"/>
              <a:t>Risultati</a:t>
            </a:r>
            <a:r>
              <a:rPr lang="en-US" sz="3600" noProof="0" dirty="0"/>
              <a:t>: 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9BC400A4-782F-55E8-B0F4-AA41597F7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779334"/>
              </p:ext>
            </p:extLst>
          </p:nvPr>
        </p:nvGraphicFramePr>
        <p:xfrm>
          <a:off x="479424" y="4365104"/>
          <a:ext cx="11017176" cy="1888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294">
                  <a:extLst>
                    <a:ext uri="{9D8B030D-6E8A-4147-A177-3AD203B41FA5}">
                      <a16:colId xmlns:a16="http://schemas.microsoft.com/office/drawing/2014/main" val="509979559"/>
                    </a:ext>
                  </a:extLst>
                </a:gridCol>
                <a:gridCol w="2754294">
                  <a:extLst>
                    <a:ext uri="{9D8B030D-6E8A-4147-A177-3AD203B41FA5}">
                      <a16:colId xmlns:a16="http://schemas.microsoft.com/office/drawing/2014/main" val="4216290476"/>
                    </a:ext>
                  </a:extLst>
                </a:gridCol>
                <a:gridCol w="2754294">
                  <a:extLst>
                    <a:ext uri="{9D8B030D-6E8A-4147-A177-3AD203B41FA5}">
                      <a16:colId xmlns:a16="http://schemas.microsoft.com/office/drawing/2014/main" val="4261677301"/>
                    </a:ext>
                  </a:extLst>
                </a:gridCol>
                <a:gridCol w="2754294">
                  <a:extLst>
                    <a:ext uri="{9D8B030D-6E8A-4147-A177-3AD203B41FA5}">
                      <a16:colId xmlns:a16="http://schemas.microsoft.com/office/drawing/2014/main" val="1420536202"/>
                    </a:ext>
                  </a:extLst>
                </a:gridCol>
              </a:tblGrid>
              <a:tr h="624069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Teorici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Generati e riportati via GITSIM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Odometria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480098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r>
                        <a:rPr lang="it-IT" dirty="0"/>
                        <a:t>Impulsi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3’259’493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3259498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3259499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815209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r>
                        <a:rPr lang="it-IT" dirty="0"/>
                        <a:t>Distanza percorsa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20’000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20’000,03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20’000,038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972570"/>
                  </a:ext>
                </a:extLst>
              </a:tr>
            </a:tbl>
          </a:graphicData>
        </a:graphic>
      </p:graphicFrame>
      <p:pic>
        <p:nvPicPr>
          <p:cNvPr id="8" name="Immagine 7">
            <a:extLst>
              <a:ext uri="{FF2B5EF4-FFF2-40B4-BE49-F238E27FC236}">
                <a16:creationId xmlns:a16="http://schemas.microsoft.com/office/drawing/2014/main" id="{6B46AD6B-AACB-1C4B-191E-64C741BF83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811" y="1340768"/>
            <a:ext cx="5020507" cy="288032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A2E3AD93-E984-BBF9-A26F-F2CC1998E858}"/>
              </a:ext>
            </a:extLst>
          </p:cNvPr>
          <p:cNvSpPr txBox="1"/>
          <p:nvPr/>
        </p:nvSpPr>
        <p:spPr>
          <a:xfrm>
            <a:off x="775834" y="1556792"/>
            <a:ext cx="44560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Profilo n.2</a:t>
            </a:r>
          </a:p>
          <a:p>
            <a:r>
              <a:rPr lang="it-IT" b="1" dirty="0"/>
              <a:t>Tratta di 20 km con velocità massima di 360 km/h</a:t>
            </a:r>
          </a:p>
          <a:p>
            <a:r>
              <a:rPr lang="it-IT" dirty="0"/>
              <a:t>Accelerazione e decelerazione( 0,5m/s</a:t>
            </a:r>
            <a:r>
              <a:rPr lang="it-IT" baseline="30000" dirty="0"/>
              <a:t>2</a:t>
            </a:r>
            <a:r>
              <a:rPr lang="it-IT" dirty="0"/>
              <a:t> e -0,8m/s</a:t>
            </a:r>
            <a:r>
              <a:rPr lang="it-IT" baseline="30000" dirty="0"/>
              <a:t>2)</a:t>
            </a:r>
            <a:r>
              <a:rPr lang="it-IT" dirty="0"/>
              <a:t> costante con velocità massima 100 metri al secondo. </a:t>
            </a:r>
          </a:p>
        </p:txBody>
      </p:sp>
    </p:spTree>
    <p:extLst>
      <p:ext uri="{BB962C8B-B14F-4D97-AF65-F5344CB8AC3E}">
        <p14:creationId xmlns:p14="http://schemas.microsoft.com/office/powerpoint/2010/main" val="3875527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E62F3-20C2-0DB1-3588-ADB35C859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51DCD411-5CCD-FB9B-1931-707DEE5268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475395"/>
            <a:ext cx="11233149" cy="64807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noProof="0" dirty="0" err="1"/>
              <a:t>Risultati</a:t>
            </a:r>
            <a:r>
              <a:rPr lang="en-US" sz="3600" noProof="0" dirty="0"/>
              <a:t>: 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8FDD6FF0-09A6-8C90-8468-1D29B7D9C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350810"/>
              </p:ext>
            </p:extLst>
          </p:nvPr>
        </p:nvGraphicFramePr>
        <p:xfrm>
          <a:off x="479424" y="4669147"/>
          <a:ext cx="11305208" cy="1888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6302">
                  <a:extLst>
                    <a:ext uri="{9D8B030D-6E8A-4147-A177-3AD203B41FA5}">
                      <a16:colId xmlns:a16="http://schemas.microsoft.com/office/drawing/2014/main" val="509979559"/>
                    </a:ext>
                  </a:extLst>
                </a:gridCol>
                <a:gridCol w="2826302">
                  <a:extLst>
                    <a:ext uri="{9D8B030D-6E8A-4147-A177-3AD203B41FA5}">
                      <a16:colId xmlns:a16="http://schemas.microsoft.com/office/drawing/2014/main" val="4216290476"/>
                    </a:ext>
                  </a:extLst>
                </a:gridCol>
                <a:gridCol w="2826302">
                  <a:extLst>
                    <a:ext uri="{9D8B030D-6E8A-4147-A177-3AD203B41FA5}">
                      <a16:colId xmlns:a16="http://schemas.microsoft.com/office/drawing/2014/main" val="4261677301"/>
                    </a:ext>
                  </a:extLst>
                </a:gridCol>
                <a:gridCol w="2826302">
                  <a:extLst>
                    <a:ext uri="{9D8B030D-6E8A-4147-A177-3AD203B41FA5}">
                      <a16:colId xmlns:a16="http://schemas.microsoft.com/office/drawing/2014/main" val="1420536202"/>
                    </a:ext>
                  </a:extLst>
                </a:gridCol>
              </a:tblGrid>
              <a:tr h="336037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Teorici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Generati e riportati via GITSIM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Odometria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480098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r>
                        <a:rPr lang="it-IT" dirty="0"/>
                        <a:t>Impulsi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815209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r>
                        <a:rPr lang="it-IT" dirty="0"/>
                        <a:t>Distanza percorsa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785,40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785,40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785,43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972570"/>
                  </a:ext>
                </a:extLst>
              </a:tr>
            </a:tbl>
          </a:graphicData>
        </a:graphic>
      </p:graphicFrame>
      <p:pic>
        <p:nvPicPr>
          <p:cNvPr id="7" name="Immagine 6">
            <a:extLst>
              <a:ext uri="{FF2B5EF4-FFF2-40B4-BE49-F238E27FC236}">
                <a16:creationId xmlns:a16="http://schemas.microsoft.com/office/drawing/2014/main" id="{10D3F408-30B3-F553-BFB0-EA72ACC25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037" y="1123466"/>
            <a:ext cx="5988798" cy="342900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B4ED03B4-0497-7AD6-FA55-BB6B135903AA}"/>
              </a:ext>
            </a:extLst>
          </p:cNvPr>
          <p:cNvSpPr txBox="1"/>
          <p:nvPr/>
        </p:nvSpPr>
        <p:spPr>
          <a:xfrm>
            <a:off x="839416" y="1484784"/>
            <a:ext cx="396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Profilo n.3</a:t>
            </a:r>
          </a:p>
          <a:p>
            <a:r>
              <a:rPr lang="it-IT" dirty="0"/>
              <a:t>Velocità con forma sinusoidale</a:t>
            </a:r>
          </a:p>
        </p:txBody>
      </p:sp>
    </p:spTree>
    <p:extLst>
      <p:ext uri="{BB962C8B-B14F-4D97-AF65-F5344CB8AC3E}">
        <p14:creationId xmlns:p14="http://schemas.microsoft.com/office/powerpoint/2010/main" val="3861454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3367B-A16E-604C-81E1-1E47F987B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E7C38770-6350-13B4-1930-C31730CBC6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475395"/>
            <a:ext cx="11233149" cy="64807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noProof="0" dirty="0" err="1"/>
              <a:t>Risultati</a:t>
            </a:r>
            <a:r>
              <a:rPr lang="en-US" sz="3600" noProof="0" dirty="0"/>
              <a:t>: 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EFE7A230-B2E4-61E9-4103-1948F79EC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146507"/>
              </p:ext>
            </p:extLst>
          </p:nvPr>
        </p:nvGraphicFramePr>
        <p:xfrm>
          <a:off x="479424" y="4669147"/>
          <a:ext cx="11305208" cy="1888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6302">
                  <a:extLst>
                    <a:ext uri="{9D8B030D-6E8A-4147-A177-3AD203B41FA5}">
                      <a16:colId xmlns:a16="http://schemas.microsoft.com/office/drawing/2014/main" val="509979559"/>
                    </a:ext>
                  </a:extLst>
                </a:gridCol>
                <a:gridCol w="2826302">
                  <a:extLst>
                    <a:ext uri="{9D8B030D-6E8A-4147-A177-3AD203B41FA5}">
                      <a16:colId xmlns:a16="http://schemas.microsoft.com/office/drawing/2014/main" val="4216290476"/>
                    </a:ext>
                  </a:extLst>
                </a:gridCol>
                <a:gridCol w="2826302">
                  <a:extLst>
                    <a:ext uri="{9D8B030D-6E8A-4147-A177-3AD203B41FA5}">
                      <a16:colId xmlns:a16="http://schemas.microsoft.com/office/drawing/2014/main" val="4261677301"/>
                    </a:ext>
                  </a:extLst>
                </a:gridCol>
                <a:gridCol w="2826302">
                  <a:extLst>
                    <a:ext uri="{9D8B030D-6E8A-4147-A177-3AD203B41FA5}">
                      <a16:colId xmlns:a16="http://schemas.microsoft.com/office/drawing/2014/main" val="1420536202"/>
                    </a:ext>
                  </a:extLst>
                </a:gridCol>
              </a:tblGrid>
              <a:tr h="336037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Teorici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Generati e riportati via GITSIM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Odometria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480098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r>
                        <a:rPr lang="it-IT" dirty="0"/>
                        <a:t>Impulsi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325949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325950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325950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815209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r>
                        <a:rPr lang="it-IT" dirty="0"/>
                        <a:t>Distanza percorsa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2000,002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2000,01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972570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01D5E758-402A-1ABA-65C0-BD23C3936E11}"/>
              </a:ext>
            </a:extLst>
          </p:cNvPr>
          <p:cNvSpPr txBox="1"/>
          <p:nvPr/>
        </p:nvSpPr>
        <p:spPr>
          <a:xfrm>
            <a:off x="821024" y="1114121"/>
            <a:ext cx="47592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Profilo n.4</a:t>
            </a:r>
          </a:p>
          <a:p>
            <a:r>
              <a:rPr lang="it-IT" b="1" dirty="0"/>
              <a:t>(es. di ingresso a strappi in grande stazione)</a:t>
            </a:r>
          </a:p>
          <a:p>
            <a:r>
              <a:rPr lang="it-IT" dirty="0"/>
              <a:t>Curva «Ricciardi» 1m/s^2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18F24B8-0889-A0F0-147F-FD8AC0BA6290}"/>
              </a:ext>
            </a:extLst>
          </p:cNvPr>
          <p:cNvSpPr txBox="1"/>
          <p:nvPr/>
        </p:nvSpPr>
        <p:spPr>
          <a:xfrm>
            <a:off x="953634" y="3907662"/>
            <a:ext cx="3030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/>
              <a:t>Profilo di velocità della curva</a:t>
            </a:r>
          </a:p>
        </p:txBody>
      </p:sp>
      <p:pic>
        <p:nvPicPr>
          <p:cNvPr id="10" name="Immagine 9" descr="Immagine che contiene testo, schermata, numero, Diagramma&#10;&#10;Il contenuto generato dall'IA potrebbe non essere corretto.">
            <a:extLst>
              <a:ext uri="{FF2B5EF4-FFF2-40B4-BE49-F238E27FC236}">
                <a16:creationId xmlns:a16="http://schemas.microsoft.com/office/drawing/2014/main" id="{A45331B4-977D-F0CF-7C8F-30E535CD4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869" y="1123466"/>
            <a:ext cx="5862763" cy="3361715"/>
          </a:xfrm>
          <a:prstGeom prst="rect">
            <a:avLst/>
          </a:prstGeom>
        </p:spPr>
      </p:pic>
      <p:pic>
        <p:nvPicPr>
          <p:cNvPr id="14" name="Immagine 13" descr="Immagine che contiene linea, diagramma, Diagramma, Parallelo&#10;&#10;Il contenuto generato dall'IA potrebbe non essere corretto.">
            <a:extLst>
              <a:ext uri="{FF2B5EF4-FFF2-40B4-BE49-F238E27FC236}">
                <a16:creationId xmlns:a16="http://schemas.microsoft.com/office/drawing/2014/main" id="{4BFD8B8F-803B-F36D-3799-B69903DEC1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24" y="2094258"/>
            <a:ext cx="4759246" cy="175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543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46B2A-6E91-7E14-E7E0-9E9BB59F8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921B3E3D-376F-E558-70F8-FD9CFF36D7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475395"/>
            <a:ext cx="11233149" cy="64807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noProof="0" dirty="0" err="1"/>
              <a:t>Risultati</a:t>
            </a:r>
            <a:r>
              <a:rPr lang="en-US" sz="3600" noProof="0" dirty="0"/>
              <a:t>: 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A2CA2279-F95C-5B28-2E49-53096B866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446074"/>
              </p:ext>
            </p:extLst>
          </p:nvPr>
        </p:nvGraphicFramePr>
        <p:xfrm>
          <a:off x="443395" y="4004706"/>
          <a:ext cx="11305208" cy="2787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6302">
                  <a:extLst>
                    <a:ext uri="{9D8B030D-6E8A-4147-A177-3AD203B41FA5}">
                      <a16:colId xmlns:a16="http://schemas.microsoft.com/office/drawing/2014/main" val="509979559"/>
                    </a:ext>
                  </a:extLst>
                </a:gridCol>
                <a:gridCol w="2826302">
                  <a:extLst>
                    <a:ext uri="{9D8B030D-6E8A-4147-A177-3AD203B41FA5}">
                      <a16:colId xmlns:a16="http://schemas.microsoft.com/office/drawing/2014/main" val="4216290476"/>
                    </a:ext>
                  </a:extLst>
                </a:gridCol>
                <a:gridCol w="2826302">
                  <a:extLst>
                    <a:ext uri="{9D8B030D-6E8A-4147-A177-3AD203B41FA5}">
                      <a16:colId xmlns:a16="http://schemas.microsoft.com/office/drawing/2014/main" val="4261677301"/>
                    </a:ext>
                  </a:extLst>
                </a:gridCol>
                <a:gridCol w="2826302">
                  <a:extLst>
                    <a:ext uri="{9D8B030D-6E8A-4147-A177-3AD203B41FA5}">
                      <a16:colId xmlns:a16="http://schemas.microsoft.com/office/drawing/2014/main" val="1420536202"/>
                    </a:ext>
                  </a:extLst>
                </a:gridCol>
              </a:tblGrid>
              <a:tr h="336037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Teorici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Generati e riportati via GITSIM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Odometria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480098"/>
                  </a:ext>
                </a:extLst>
              </a:tr>
              <a:tr h="410317">
                <a:tc>
                  <a:txBody>
                    <a:bodyPr/>
                    <a:lstStyle/>
                    <a:p>
                      <a:r>
                        <a:rPr lang="it-IT" dirty="0"/>
                        <a:t>Impulsi </a:t>
                      </a:r>
                      <a:r>
                        <a:rPr lang="it-IT" dirty="0" err="1"/>
                        <a:t>git</a:t>
                      </a:r>
                      <a:r>
                        <a:rPr lang="it-IT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83117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83117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83117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815209"/>
                  </a:ext>
                </a:extLst>
              </a:tr>
              <a:tr h="1462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Impulsi </a:t>
                      </a:r>
                      <a:r>
                        <a:rPr lang="it-IT" dirty="0" err="1"/>
                        <a:t>git</a:t>
                      </a:r>
                      <a:r>
                        <a:rPr lang="it-IT" dirty="0"/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81487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81487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81487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972570"/>
                  </a:ext>
                </a:extLst>
              </a:tr>
              <a:tr h="146288">
                <a:tc>
                  <a:txBody>
                    <a:bodyPr/>
                    <a:lstStyle/>
                    <a:p>
                      <a:r>
                        <a:rPr lang="it-IT" dirty="0"/>
                        <a:t>Distanza percorsa </a:t>
                      </a:r>
                      <a:r>
                        <a:rPr lang="it-IT" dirty="0" err="1"/>
                        <a:t>git</a:t>
                      </a:r>
                      <a:r>
                        <a:rPr lang="it-IT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509,999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510,008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2749"/>
                  </a:ext>
                </a:extLst>
              </a:tr>
              <a:tr h="146288">
                <a:tc>
                  <a:txBody>
                    <a:bodyPr/>
                    <a:lstStyle/>
                    <a:p>
                      <a:r>
                        <a:rPr lang="it-IT" dirty="0"/>
                        <a:t>Distanza percorsa </a:t>
                      </a:r>
                      <a:r>
                        <a:rPr lang="it-IT" dirty="0" err="1"/>
                        <a:t>git</a:t>
                      </a:r>
                      <a:r>
                        <a:rPr lang="it-IT" dirty="0"/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499,997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500,005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44704"/>
                  </a:ext>
                </a:extLst>
              </a:tr>
              <a:tr h="146288">
                <a:tc>
                  <a:txBody>
                    <a:bodyPr/>
                    <a:lstStyle/>
                    <a:p>
                      <a:r>
                        <a:rPr lang="it-IT" dirty="0"/>
                        <a:t>Distanza calcolata dall’algoritmo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500,190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210895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14504535-0A5E-0E24-511A-89C6BA5378F1}"/>
              </a:ext>
            </a:extLst>
          </p:cNvPr>
          <p:cNvSpPr txBox="1"/>
          <p:nvPr/>
        </p:nvSpPr>
        <p:spPr>
          <a:xfrm>
            <a:off x="561571" y="1268760"/>
            <a:ext cx="3960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Profilo n.5</a:t>
            </a:r>
          </a:p>
          <a:p>
            <a:r>
              <a:rPr lang="it-IT" dirty="0">
                <a:latin typeface="Century Gothic" panose="020B0502020202020204" pitchFamily="34" charset="0"/>
              </a:rPr>
              <a:t>Caso di slittamento di una delle ruote simulate</a:t>
            </a:r>
          </a:p>
        </p:txBody>
      </p:sp>
      <p:pic>
        <p:nvPicPr>
          <p:cNvPr id="9" name="Immagine 8" descr="Immagine che contiene linea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03012298-6045-5CE9-70AE-F496B5ABB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856" y="1268760"/>
            <a:ext cx="7237263" cy="2699883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B144F27-02DD-730B-855D-A1F720726185}"/>
              </a:ext>
            </a:extLst>
          </p:cNvPr>
          <p:cNvSpPr txBox="1"/>
          <p:nvPr/>
        </p:nvSpPr>
        <p:spPr>
          <a:xfrm>
            <a:off x="537653" y="2228153"/>
            <a:ext cx="39604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Century Gothic" panose="020B0502020202020204" pitchFamily="34" charset="0"/>
              </a:rPr>
              <a:t>Una delle applicazioni di questo dispositivo è poter testare algoritmi delle </a:t>
            </a:r>
            <a:r>
              <a:rPr lang="it-IT" dirty="0" err="1">
                <a:latin typeface="Century Gothic" panose="020B0502020202020204" pitchFamily="34" charset="0"/>
              </a:rPr>
              <a:t>odometrie</a:t>
            </a:r>
            <a:r>
              <a:rPr lang="it-IT" dirty="0">
                <a:latin typeface="Century Gothic" panose="020B0502020202020204" pitchFamily="34" charset="0"/>
              </a:rPr>
              <a:t> usati per rilevare situazioni di slittamento o pattinamento</a:t>
            </a:r>
          </a:p>
        </p:txBody>
      </p:sp>
    </p:spTree>
    <p:extLst>
      <p:ext uri="{BB962C8B-B14F-4D97-AF65-F5344CB8AC3E}">
        <p14:creationId xmlns:p14="http://schemas.microsoft.com/office/powerpoint/2010/main" val="2105046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EA1443E4-556C-3FD5-9227-EE8E2CD39F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it-IT" sz="3600" dirty="0"/>
              <a:t>Demo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EF23686-65F3-E892-C2D8-63ADB07B0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it-IT" dirty="0"/>
          </a:p>
        </p:txBody>
      </p:sp>
      <p:pic>
        <p:nvPicPr>
          <p:cNvPr id="4" name="Registrazione dello schermo 2025-12-01 112420">
            <a:hlinkClick r:id="" action="ppaction://media"/>
            <a:extLst>
              <a:ext uri="{FF2B5EF4-FFF2-40B4-BE49-F238E27FC236}">
                <a16:creationId xmlns:a16="http://schemas.microsoft.com/office/drawing/2014/main" id="{01BBBA79-0F78-1E1D-71E4-6BCA1DC18C0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19536" y="1001317"/>
            <a:ext cx="8828038" cy="504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32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2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6547A-5C7C-2143-98F5-66F423D5E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4FE3889D-3F36-D84B-6B4F-BE13816D1D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dirty="0"/>
              <a:t>Grazie per </a:t>
            </a:r>
            <a:r>
              <a:rPr lang="en-US" sz="3600" dirty="0" err="1"/>
              <a:t>l’attenzione</a:t>
            </a:r>
            <a:endParaRPr lang="en-US" sz="3600" noProof="0" dirty="0"/>
          </a:p>
        </p:txBody>
      </p:sp>
    </p:spTree>
    <p:extLst>
      <p:ext uri="{BB962C8B-B14F-4D97-AF65-F5344CB8AC3E}">
        <p14:creationId xmlns:p14="http://schemas.microsoft.com/office/powerpoint/2010/main" val="2098721998"/>
      </p:ext>
    </p:extLst>
  </p:cSld>
  <p:clrMapOvr>
    <a:masterClrMapping/>
  </p:clrMapOvr>
</p:sld>
</file>

<file path=ppt/theme/theme1.xml><?xml version="1.0" encoding="utf-8"?>
<a:theme xmlns:a="http://schemas.openxmlformats.org/drawingml/2006/main" name="COPERTIN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4000" b="1" dirty="0" smtClean="0">
            <a:solidFill>
              <a:schemeClr val="bg1"/>
            </a:solidFill>
            <a:latin typeface="Century Gothic" panose="020B05020202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DIAPOSITIV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IUSURA">
  <a:themeElements>
    <a:clrScheme name="Personalizzato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EEECE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e3a730e-302a-4df5-bd37-d9344ad5dd3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0C5A350B8B864FA4BB6364DB87AFA5" ma:contentTypeVersion="15" ma:contentTypeDescription="Create a new document." ma:contentTypeScope="" ma:versionID="34d566daff8b0037b426a74a4d7fc681">
  <xsd:schema xmlns:xsd="http://www.w3.org/2001/XMLSchema" xmlns:xs="http://www.w3.org/2001/XMLSchema" xmlns:p="http://schemas.microsoft.com/office/2006/metadata/properties" xmlns:ns3="fe3a730e-302a-4df5-bd37-d9344ad5dd39" xmlns:ns4="59517204-b887-420f-893f-e0f09dd2c946" targetNamespace="http://schemas.microsoft.com/office/2006/metadata/properties" ma:root="true" ma:fieldsID="3f77963689b1713906672c0b2954bae2" ns3:_="" ns4:_="">
    <xsd:import namespace="fe3a730e-302a-4df5-bd37-d9344ad5dd39"/>
    <xsd:import namespace="59517204-b887-420f-893f-e0f09dd2c94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3a730e-302a-4df5-bd37-d9344ad5dd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517204-b887-420f-893f-e0f09dd2c94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8921CB-4A39-43FF-9D82-B95650BF5EEB}">
  <ds:schemaRefs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fe3a730e-302a-4df5-bd37-d9344ad5dd39"/>
    <ds:schemaRef ds:uri="http://purl.org/dc/elements/1.1/"/>
    <ds:schemaRef ds:uri="59517204-b887-420f-893f-e0f09dd2c946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C205914-E1C6-45D1-B69A-24424D8B67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3a730e-302a-4df5-bd37-d9344ad5dd39"/>
    <ds:schemaRef ds:uri="59517204-b887-420f-893f-e0f09dd2c9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F431BF4-003A-420A-9F86-DCB5B4D2A5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6269</TotalTime>
  <Words>1380</Words>
  <Application>Microsoft Office PowerPoint</Application>
  <PresentationFormat>Widescreen</PresentationFormat>
  <Paragraphs>193</Paragraphs>
  <Slides>23</Slides>
  <Notes>7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4</vt:i4>
      </vt:variant>
      <vt:variant>
        <vt:lpstr>Titoli diapositive</vt:lpstr>
      </vt:variant>
      <vt:variant>
        <vt:i4>23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Cambria Math</vt:lpstr>
      <vt:lpstr>Century Gothic</vt:lpstr>
      <vt:lpstr>Courier New</vt:lpstr>
      <vt:lpstr>Wingdings</vt:lpstr>
      <vt:lpstr>COPERTINA</vt:lpstr>
      <vt:lpstr>DIAPOSITIVE</vt:lpstr>
      <vt:lpstr>CHIUSURA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Università di Bologna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UTENTE</dc:creator>
  <cp:lastModifiedBy>Samuele Pilati - samuele.pilati@studio.unibo.it</cp:lastModifiedBy>
  <cp:revision>173</cp:revision>
  <cp:lastPrinted>2025-10-05T14:34:01Z</cp:lastPrinted>
  <dcterms:created xsi:type="dcterms:W3CDTF">2017-11-13T10:11:35Z</dcterms:created>
  <dcterms:modified xsi:type="dcterms:W3CDTF">2026-10-20T18:54:07Z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0x010100E00C5A350B8B864FA4BB6364DB87AFA5</vt:lpwstr>
  </property>
</Properties>
</file>