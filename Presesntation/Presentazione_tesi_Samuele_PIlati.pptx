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1" r:id="rId6"/>
    <p:sldMasterId id="2147483674" r:id="rId7"/>
  </p:sldMasterIdLst>
  <p:notesMasterIdLst>
    <p:notesMasterId r:id="rId31"/>
  </p:notesMasterIdLst>
  <p:handoutMasterIdLst>
    <p:handoutMasterId r:id="rId32"/>
  </p:handoutMasterIdLst>
  <p:sldIdLst>
    <p:sldId id="263" r:id="rId8"/>
    <p:sldId id="292" r:id="rId9"/>
    <p:sldId id="314" r:id="rId10"/>
    <p:sldId id="264" r:id="rId11"/>
    <p:sldId id="317" r:id="rId12"/>
    <p:sldId id="311" r:id="rId13"/>
    <p:sldId id="309" r:id="rId14"/>
    <p:sldId id="308" r:id="rId15"/>
    <p:sldId id="310" r:id="rId16"/>
    <p:sldId id="316" r:id="rId17"/>
    <p:sldId id="294" r:id="rId18"/>
    <p:sldId id="302" r:id="rId19"/>
    <p:sldId id="303" r:id="rId20"/>
    <p:sldId id="306" r:id="rId21"/>
    <p:sldId id="283" r:id="rId22"/>
    <p:sldId id="313" r:id="rId23"/>
    <p:sldId id="284" r:id="rId24"/>
    <p:sldId id="304" r:id="rId25"/>
    <p:sldId id="305" r:id="rId26"/>
    <p:sldId id="307" r:id="rId27"/>
    <p:sldId id="312" r:id="rId28"/>
    <p:sldId id="315" r:id="rId29"/>
    <p:sldId id="295" r:id="rId30"/>
  </p:sldIdLst>
  <p:sldSz cx="12192000" cy="6858000"/>
  <p:notesSz cx="6797675" cy="9928225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2B0B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35" autoAdjust="0"/>
    <p:restoredTop sz="91389" autoAdjust="0"/>
  </p:normalViewPr>
  <p:slideViewPr>
    <p:cSldViewPr showGuides="1">
      <p:cViewPr varScale="1">
        <p:scale>
          <a:sx n="95" d="100"/>
          <a:sy n="95" d="100"/>
        </p:scale>
        <p:origin x="581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58A08-A15A-4C04-BB8A-1EE48D0160C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B7062-2C0D-46B7-9F71-552E63D1E6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2294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75467-8215-6642-8F14-F5800F1EB5F9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F200D-392B-604B-B6E1-E2EAEF3B82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02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63F6-AF97-51B2-516B-66A74C77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5E877E5-80DC-4128-B1D6-32E3BA664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B418B7-8D18-B61A-8307-D5B4B8069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12B60B-0A22-EEF7-ED4C-7CC97E6C8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780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7942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B3195-65A2-7ACD-EF3A-F30F9D4F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C267966-8261-39D7-E35F-22936ADE0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074407-DBC7-9CFB-E8B1-E68814861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F7F82D-10A1-2CF0-A38C-EBABF81BE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1393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C21D-47C7-45AB-FDC4-EF2DA6ED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627F40E-B9E9-89FC-108C-CB8A094B9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4C89375-D9B6-5B58-247B-0818EF8AF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349E69-A38A-3DB7-0721-D8DBBB6C2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216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5F57-E632-81EA-D426-C60F0F8B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989BCA9-B6C4-2C6A-5C3A-34AFA7E5B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379122-B0AF-35EA-3413-2FDE85303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5C4C5D-E6A8-B84C-4EF8-7EC93B0EE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511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92EC-B8EA-7108-18FA-D336FF1A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7793A9-5168-DD61-80DD-96EABB2F5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B482DF9-7128-3B34-89CC-EEE42FDD1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DEA00F-1E9E-A1D3-5CAC-C2A89E370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4282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4949-0569-60C8-376F-5E79F5C83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B194E2D-88D5-E983-2F75-ECA222E6D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7FA0329-E508-45ED-F413-139BFE49E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F834F3-6169-D483-67B0-1EFA77431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4393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672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punto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989138"/>
            <a:ext cx="11233149" cy="3960812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800" baseline="0">
                <a:latin typeface="Century Gothic" panose="020B0502020202020204" pitchFamily="34" charset="0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latin typeface="Century Gothic" panose="020B0502020202020204" pitchFamily="34" charset="0"/>
              </a:defRPr>
            </a:lvl2pPr>
          </a:lstStyle>
          <a:p>
            <a:pPr lvl="1"/>
            <a:r>
              <a:rPr lang="it-IT" dirty="0"/>
              <a:t>Fare clic per modificare il punto elenco uno</a:t>
            </a:r>
          </a:p>
          <a:p>
            <a:pPr lvl="1"/>
            <a:r>
              <a:rPr lang="it-IT" dirty="0"/>
              <a:t>Fare clic per modificare il punto elenco due</a:t>
            </a:r>
          </a:p>
          <a:p>
            <a:pPr lvl="1"/>
            <a:r>
              <a:rPr lang="it-IT" dirty="0"/>
              <a:t>Fare clic per modificare il punto elenco tre</a:t>
            </a:r>
          </a:p>
          <a:p>
            <a:pPr lvl="1"/>
            <a:r>
              <a:rPr lang="it-IT" dirty="0"/>
              <a:t>Fare clic per modificare il punto elenco quattro</a:t>
            </a:r>
          </a:p>
        </p:txBody>
      </p:sp>
      <p:sp>
        <p:nvSpPr>
          <p:cNvPr id="16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04385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5"/>
            <a:ext cx="11233149" cy="460841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41815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grafico 8"/>
          <p:cNvSpPr>
            <a:spLocks noGrp="1"/>
          </p:cNvSpPr>
          <p:nvPr>
            <p:ph type="chart" sz="quarter" idx="10" hasCustomPrompt="1"/>
          </p:nvPr>
        </p:nvSpPr>
        <p:spPr>
          <a:xfrm>
            <a:off x="911026" y="2781300"/>
            <a:ext cx="10369551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r>
              <a:rPr lang="it-IT"/>
              <a:t>Fare clic sull’icona per inserire un grafico</a:t>
            </a:r>
          </a:p>
        </p:txBody>
      </p:sp>
      <p:sp>
        <p:nvSpPr>
          <p:cNvPr id="11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6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55583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/>
          <p:cNvSpPr>
            <a:spLocks noGrp="1"/>
          </p:cNvSpPr>
          <p:nvPr>
            <p:ph type="pic" sz="quarter" idx="10" hasCustomPrompt="1"/>
          </p:nvPr>
        </p:nvSpPr>
        <p:spPr>
          <a:xfrm>
            <a:off x="1534584" y="1700809"/>
            <a:ext cx="9122833" cy="410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entury Gothic" panose="020B0502020202020204" pitchFamily="34" charset="0"/>
              </a:defRPr>
            </a:lvl1pPr>
          </a:lstStyle>
          <a:p>
            <a:r>
              <a:rPr lang="it-IT"/>
              <a:t>Fare clic sull’icona per inserire un’immagine</a:t>
            </a:r>
          </a:p>
        </p:txBody>
      </p:sp>
      <p:sp>
        <p:nvSpPr>
          <p:cNvPr id="5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97025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487488" y="2780928"/>
            <a:ext cx="9217024" cy="43237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39483" y="3573017"/>
            <a:ext cx="9313035" cy="93610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Struttura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1390651" y="4725144"/>
            <a:ext cx="9410700" cy="144016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nome.cognome@unibo.it</a:t>
            </a:r>
          </a:p>
          <a:p>
            <a:pPr lvl="0"/>
            <a:r>
              <a:rPr lang="it-IT" dirty="0"/>
              <a:t>051 20 99982</a:t>
            </a:r>
          </a:p>
        </p:txBody>
      </p:sp>
    </p:spTree>
    <p:extLst>
      <p:ext uri="{BB962C8B-B14F-4D97-AF65-F5344CB8AC3E}">
        <p14:creationId xmlns:p14="http://schemas.microsoft.com/office/powerpoint/2010/main" val="424945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787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8EAF4B-7ADB-02F4-C70E-DE4BFDADE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FD276C9-67A1-C35D-D685-A2DEBD162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01AA57-8200-3B95-C7B0-C1B5C239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802F8E-45AB-A51B-86B7-28877189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4808C8-A59A-7770-9A7F-2CB3B0E3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4885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9161BE-0104-50C2-5C4B-7E0A00E3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677A86-7523-8DA5-FCFF-EC27CD4E5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047E76-C33E-1759-70E6-6A3A946D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9F08D3-D4F2-C2DD-2B37-BB402C00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9068BE-969F-C872-989B-45C47CAC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566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3E512-382A-D5BF-C53F-E9AE97968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D1EBC7-33F5-72FA-BB57-E349DDAC1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D32A4E-8C0B-3245-2451-CFBF6954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BB1B0D-B2A9-4A96-3EC9-C747534C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648CA6-59D0-CABA-0E0D-5839CC2A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80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58C3B5-46B8-F5DE-8677-7504944C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E11F46-6EAE-F4CC-F613-CAC6FA309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57CEAA3-C903-A7DD-B1A2-807C595B5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F3719C-2803-DDE7-FE25-E81C9055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959E96-2035-6CE5-32B6-5BA0991E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0AA91C-7CF5-1901-31EB-2D092420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7237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F058ED-C5AD-7ACC-956D-A839D352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3D81E8-80FC-4E86-3157-271496135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9A5484-FFB8-1D17-DD8C-54045DD93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ADC73D0-A7E7-2A1A-B521-AA863C9E7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6CC34B6-640A-F233-AA47-F49685B60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64CC64F-3B52-0F37-C79D-4EFCB417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20A68B4-BED1-9944-C222-685623A6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70788E4-8619-9058-D976-5890DAF1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2211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7B7CFC-D161-0740-0A1D-7790BD14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39404C7-390E-CA02-8CE7-E47C7226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1FAB4BD-D72B-C7AD-8E86-58347AED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0BB2BD7-3DD9-C432-91E4-1D154D55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489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86CFE36-0766-2D12-A13E-19B5A9B2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236B48D-BD8A-B2BC-ECD9-0E0EF8E7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859477-2474-2199-D5CE-8E4730A6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9290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E36779-65D3-5227-512D-43D6F549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3F673F-0607-7FAE-66CD-D73CEB2D7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6D054C9-1107-1303-E791-5ECCCA028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03A57E4-5962-DD7F-6169-CC265F92D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06F7E6-BF84-370C-EC63-C46D42FB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F3669F-A6AA-9C10-323B-25F56FF4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769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BFACCB-4D93-1873-3CE4-91F64EF4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6D61400-3683-264F-C788-849313E24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CCA52E2-1EE3-A13C-7EAF-69BA50B47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0362067-02EF-AF87-EEF7-E7B92275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76C0ED-2B80-784E-7B0B-21F9C914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C3BFDA-3784-3D00-9BA5-800BFD6F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5639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ED6563-4A19-99B2-D936-353DC4FC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1201E02-B9A7-8739-4C6E-30883DD6E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6466A2-F0DA-ECA5-EEB2-F32A619D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C24043-856C-25C1-8A1C-125DCE98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9B1461-A359-11DC-18DC-284BF20C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36267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0F7B844-530D-6232-754D-F85F6C3D0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8C2F168-7410-B9C5-55A2-E47D9E541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8F92DB-0305-C694-90E4-1CCCE3D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2B3047-FA54-5110-FF2D-2C1E3097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B89CAD-791C-FC1B-5138-9F4F03D1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60699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4757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5"/>
            <a:ext cx="11233149" cy="460841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218143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0" name="Immagin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15" y="1700808"/>
            <a:ext cx="2538989" cy="2538989"/>
          </a:xfrm>
          <a:prstGeom prst="rect">
            <a:avLst/>
          </a:prstGeom>
        </p:spPr>
      </p:pic>
      <p:cxnSp>
        <p:nvCxnSpPr>
          <p:cNvPr id="12" name="Connettore 1 11"/>
          <p:cNvCxnSpPr/>
          <p:nvPr userDrawn="1"/>
        </p:nvCxnSpPr>
        <p:spPr>
          <a:xfrm>
            <a:off x="4367808" y="188640"/>
            <a:ext cx="0" cy="64087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6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 userDrawn="1"/>
        </p:nvSpPr>
        <p:spPr>
          <a:xfrm>
            <a:off x="8773683" y="6173407"/>
            <a:ext cx="3215680" cy="54868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9" name="Immagine 8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416972" y="6165304"/>
            <a:ext cx="2007620" cy="54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5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1" r:id="rId2"/>
    <p:sldLayoutId id="2147483667" r:id="rId3"/>
    <p:sldLayoutId id="2147483669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505" y="116632"/>
            <a:ext cx="2538989" cy="2538989"/>
          </a:xfrm>
          <a:prstGeom prst="rect">
            <a:avLst/>
          </a:prstGeom>
        </p:spPr>
      </p:pic>
      <p:sp>
        <p:nvSpPr>
          <p:cNvPr id="9" name="CasellaDiTesto 8"/>
          <p:cNvSpPr txBox="1"/>
          <p:nvPr userDrawn="1"/>
        </p:nvSpPr>
        <p:spPr>
          <a:xfrm>
            <a:off x="4175787" y="6453336"/>
            <a:ext cx="3840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bg1"/>
                </a:solidFill>
              </a:rPr>
              <a:t>www.unibo.it</a:t>
            </a:r>
          </a:p>
        </p:txBody>
      </p:sp>
    </p:spTree>
    <p:extLst>
      <p:ext uri="{BB962C8B-B14F-4D97-AF65-F5344CB8AC3E}">
        <p14:creationId xmlns:p14="http://schemas.microsoft.com/office/powerpoint/2010/main" val="18683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35DF8A4-AB40-9DDE-2106-F0E29085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5FBE21-E1A7-16A1-A2D0-1918B681E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E6018C-10CC-0C34-C5C0-1647FA981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CF978-9EE2-9B4C-B3C2-301324393C7F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20F1C8-98B6-B44E-79F7-5DAE5E109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FC185A-8179-8A0E-2012-446F27E12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997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5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1523491" y="3271157"/>
            <a:ext cx="9145017" cy="1235591"/>
          </a:xfrm>
        </p:spPr>
        <p:txBody>
          <a:bodyPr>
            <a:normAutofit/>
          </a:bodyPr>
          <a:lstStyle/>
          <a:p>
            <a:pPr algn="ctr">
              <a:lnSpc>
                <a:spcPct val="125000"/>
              </a:lnSpc>
            </a:pPr>
            <a:r>
              <a:rPr lang="it-IT" sz="2400" dirty="0">
                <a:solidFill>
                  <a:srgbClr val="C00000"/>
                </a:solidFill>
              </a:rPr>
              <a:t>Progetto di un emulatore di encoder incrementali per applicazioni ferroviarie</a:t>
            </a:r>
            <a:endParaRPr lang="en-US" sz="2000" u="sng" noProof="0" dirty="0">
              <a:solidFill>
                <a:srgbClr val="C00000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6BD0665-B3D2-5AA5-C3F9-D3E8E69923CD}"/>
              </a:ext>
            </a:extLst>
          </p:cNvPr>
          <p:cNvSpPr txBox="1"/>
          <p:nvPr/>
        </p:nvSpPr>
        <p:spPr>
          <a:xfrm>
            <a:off x="435668" y="5054052"/>
            <a:ext cx="2610243" cy="1235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solidFill>
                  <a:srgbClr val="C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Supervisor </a:t>
            </a:r>
          </a:p>
          <a:p>
            <a:pPr>
              <a:lnSpc>
                <a:spcPct val="150000"/>
              </a:lnSpc>
            </a:pPr>
            <a:r>
              <a:rPr lang="en-US" sz="1400" b="1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Prof. Tullio Salmon Cinotti</a:t>
            </a:r>
          </a:p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rgbClr val="C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Co-Supervisor</a:t>
            </a:r>
          </a:p>
          <a:p>
            <a:pPr>
              <a:lnSpc>
                <a:spcPct val="150000"/>
              </a:lnSpc>
            </a:pPr>
            <a:r>
              <a:rPr lang="en-US" sz="1400" b="1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Ing. Kristian Bandi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3907285-E00F-E6F7-E49C-AC89BEDAE52E}"/>
              </a:ext>
            </a:extLst>
          </p:cNvPr>
          <p:cNvSpPr txBox="1"/>
          <p:nvPr/>
        </p:nvSpPr>
        <p:spPr>
          <a:xfrm>
            <a:off x="9552384" y="5054052"/>
            <a:ext cx="2232248" cy="58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noProof="0" dirty="0">
                <a:solidFill>
                  <a:srgbClr val="C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Presented by </a:t>
            </a:r>
          </a:p>
          <a:p>
            <a:pPr algn="r">
              <a:lnSpc>
                <a:spcPct val="150000"/>
              </a:lnSpc>
            </a:pPr>
            <a:r>
              <a:rPr lang="en-US" sz="1400" b="1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Samuele Pilati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2ECAEF7C-FBEF-096C-BF91-079945CDEF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180" y="474765"/>
            <a:ext cx="2579638" cy="190847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52BA59-4CBB-A1F6-D1F5-F81D01C73195}"/>
              </a:ext>
            </a:extLst>
          </p:cNvPr>
          <p:cNvSpPr txBox="1"/>
          <p:nvPr/>
        </p:nvSpPr>
        <p:spPr>
          <a:xfrm>
            <a:off x="5029938" y="5025332"/>
            <a:ext cx="2132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Tesi in reti logiche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A55A01A-7A77-D25A-3E71-D8DA9A83AD27}"/>
              </a:ext>
            </a:extLst>
          </p:cNvPr>
          <p:cNvSpPr txBox="1"/>
          <p:nvPr/>
        </p:nvSpPr>
        <p:spPr>
          <a:xfrm>
            <a:off x="4123311" y="2689210"/>
            <a:ext cx="394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Laurea in ingegneria dell’automazione</a:t>
            </a:r>
          </a:p>
        </p:txBody>
      </p:sp>
    </p:spTree>
    <p:extLst>
      <p:ext uri="{BB962C8B-B14F-4D97-AF65-F5344CB8AC3E}">
        <p14:creationId xmlns:p14="http://schemas.microsoft.com/office/powerpoint/2010/main" val="3085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62DD6754-0DA7-6A2A-EB5C-8D745358F35C}"/>
              </a:ext>
            </a:extLst>
          </p:cNvPr>
          <p:cNvSpPr txBox="1"/>
          <p:nvPr/>
        </p:nvSpPr>
        <p:spPr>
          <a:xfrm>
            <a:off x="695401" y="1844824"/>
            <a:ext cx="53921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Encoder </a:t>
            </a:r>
            <a:r>
              <a:rPr lang="en-US" sz="2800" noProof="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incrementali</a:t>
            </a:r>
            <a:endParaRPr lang="en-US" sz="2800" noProof="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Progetto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Tecnologie</a:t>
            </a: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noProof="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utilizzate</a:t>
            </a:r>
            <a:endParaRPr lang="en-US" sz="2800" noProof="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GUI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Problemi</a:t>
            </a: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 e </a:t>
            </a:r>
            <a:r>
              <a:rPr lang="en-US" sz="2800" noProof="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soluzioni</a:t>
            </a:r>
            <a:endParaRPr lang="en-US" sz="2800" noProof="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Risultati</a:t>
            </a:r>
            <a:endParaRPr lang="en-US" sz="2800" noProof="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>
                <a:latin typeface="Century Gothic" panose="020B0502020202020204" pitchFamily="34" charset="0"/>
                <a:cs typeface="Times New Roman" panose="02020603050405020304" pitchFamily="18" charset="0"/>
              </a:rPr>
              <a:t>Demo</a:t>
            </a:r>
            <a:endParaRPr lang="en-US" sz="2800" noProof="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Segnaposto testo 1">
            <a:extLst>
              <a:ext uri="{FF2B5EF4-FFF2-40B4-BE49-F238E27FC236}">
                <a16:creationId xmlns:a16="http://schemas.microsoft.com/office/drawing/2014/main" id="{2EFCD7E7-5AC1-6339-734C-51F19EF443E9}"/>
              </a:ext>
            </a:extLst>
          </p:cNvPr>
          <p:cNvSpPr txBox="1">
            <a:spLocks/>
          </p:cNvSpPr>
          <p:nvPr/>
        </p:nvSpPr>
        <p:spPr>
          <a:xfrm>
            <a:off x="527051" y="620689"/>
            <a:ext cx="11233149" cy="64807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800" noProof="0" dirty="0" err="1">
                <a:solidFill>
                  <a:srgbClr val="BD2B0B"/>
                </a:solidFill>
              </a:rPr>
              <a:t>Contenuti</a:t>
            </a:r>
            <a:endParaRPr lang="en-US" noProof="0" dirty="0">
              <a:solidFill>
                <a:srgbClr val="BD2B0B"/>
              </a:solidFill>
            </a:endParaRPr>
          </a:p>
        </p:txBody>
      </p:sp>
      <p:pic>
        <p:nvPicPr>
          <p:cNvPr id="4" name="Immagine 3" descr="Immagine che contiene disegno, Elementi grafici,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BE4BDD8B-C1A5-B361-D6DE-B1851593A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1682153"/>
            <a:ext cx="2972215" cy="257210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73EEF10-675F-6F3E-C7D1-F1C5B51798F2}"/>
              </a:ext>
            </a:extLst>
          </p:cNvPr>
          <p:cNvSpPr txBox="1"/>
          <p:nvPr/>
        </p:nvSpPr>
        <p:spPr>
          <a:xfrm>
            <a:off x="6931009" y="4482989"/>
            <a:ext cx="2598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Attuale icona del GITSIM</a:t>
            </a:r>
          </a:p>
        </p:txBody>
      </p:sp>
    </p:spTree>
    <p:extLst>
      <p:ext uri="{BB962C8B-B14F-4D97-AF65-F5344CB8AC3E}">
        <p14:creationId xmlns:p14="http://schemas.microsoft.com/office/powerpoint/2010/main" val="2489510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DE1D-6E95-75C9-947E-78241B3D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5DA174F-5650-D295-63F9-CC4D995FB4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576" y="404664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Encoder </a:t>
            </a:r>
            <a:r>
              <a:rPr lang="en-US" sz="3600" dirty="0" err="1"/>
              <a:t>incrementali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EC9610-C5BF-677B-54DA-7A3948D0F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5576" y="1095389"/>
            <a:ext cx="5304660" cy="5182025"/>
          </a:xfrm>
        </p:spPr>
        <p:txBody>
          <a:bodyPr>
            <a:normAutofit/>
          </a:bodyPr>
          <a:lstStyle/>
          <a:p>
            <a:pPr algn="just"/>
            <a:r>
              <a:rPr lang="it-IT" dirty="0"/>
              <a:t>Un encoder è un dispositivo elettronico utilizzato per convertire il movimento meccanico in segnali elettronici.</a:t>
            </a:r>
          </a:p>
          <a:p>
            <a:pPr algn="just"/>
            <a:r>
              <a:rPr lang="it-IT" dirty="0"/>
              <a:t>Gli encoder ottici utilizzano un disco perforato o una griglia di linee per generare impulsi in risposta al movimento.</a:t>
            </a:r>
          </a:p>
          <a:p>
            <a:pPr algn="just"/>
            <a:r>
              <a:rPr lang="it-IT" dirty="0"/>
              <a:t>Rispetto agli altri trasduttori di posizione gli encoder offrono parecchi vantaggi: forniscono letture estremamente precise di posizione e velocità, sono molto affidabili e la loro natura senza contatti gli rende meno soggetti ad usura rispetto a dispositivi elettronici tradizionali.</a:t>
            </a:r>
          </a:p>
          <a:p>
            <a:pPr algn="just"/>
            <a:r>
              <a:rPr lang="it-IT" dirty="0"/>
              <a:t>I segnali elettronici prodotti dagli encoder vengono poi interpretati da una componente elettronica chiamata </a:t>
            </a:r>
            <a:r>
              <a:rPr lang="it-IT" dirty="0" err="1"/>
              <a:t>odometria</a:t>
            </a:r>
            <a:r>
              <a:rPr lang="it-IT" dirty="0"/>
              <a:t> per ottenere valori di posizione relativa, velocità e accelerazione.</a:t>
            </a:r>
          </a:p>
        </p:txBody>
      </p:sp>
      <p:pic>
        <p:nvPicPr>
          <p:cNvPr id="6" name="Immagine 5" descr="Immagine che contiene cerchio, schizz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10BF6A6F-F2E2-A0F3-7902-22CDD3690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875944"/>
            <a:ext cx="2962688" cy="2553056"/>
          </a:xfrm>
          <a:prstGeom prst="rect">
            <a:avLst/>
          </a:prstGeom>
        </p:spPr>
      </p:pic>
      <p:pic>
        <p:nvPicPr>
          <p:cNvPr id="8" name="Immagine 7" descr="Immagine che contiene schizzo, diagramm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E6C504C3-730B-0E87-D8C8-3E47E62DC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136" y="3725978"/>
            <a:ext cx="3532586" cy="256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Progetto</a:t>
            </a:r>
            <a:r>
              <a:rPr lang="en-US" sz="3600" noProof="0" dirty="0"/>
              <a:t>: </a:t>
            </a:r>
            <a:r>
              <a:rPr lang="it-IT" sz="3600" noProof="0" dirty="0"/>
              <a:t>E</a:t>
            </a:r>
            <a:r>
              <a:rPr lang="it-IT" sz="3600" dirty="0" err="1"/>
              <a:t>mulatore</a:t>
            </a:r>
            <a:r>
              <a:rPr lang="it-IT" sz="3600" dirty="0"/>
              <a:t> di encoder incrementali per</a:t>
            </a:r>
          </a:p>
          <a:p>
            <a:pPr algn="ctr"/>
            <a:r>
              <a:rPr lang="it-IT" sz="3600" dirty="0"/>
              <a:t> applicazioni ferroviarie realizzato con FPGA</a:t>
            </a:r>
            <a:endParaRPr lang="en-US" sz="3600" noProof="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DC69AB50-C995-1EE9-A10D-E8D6ACE06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848" y="1772816"/>
            <a:ext cx="6582970" cy="2476094"/>
          </a:xfrm>
          <a:prstGeom prst="rect">
            <a:avLst/>
          </a:prstGeom>
        </p:spPr>
      </p:pic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8E6CBC82-28DA-8458-D865-A15A62C150AF}"/>
              </a:ext>
            </a:extLst>
          </p:cNvPr>
          <p:cNvSpPr/>
          <p:nvPr/>
        </p:nvSpPr>
        <p:spPr>
          <a:xfrm rot="12266365">
            <a:off x="9184849" y="3725358"/>
            <a:ext cx="1676028" cy="59759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276FCD1-75BF-00D5-A8AB-6725911D8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6773" y="4551610"/>
            <a:ext cx="1654092" cy="1430383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0D623F9-133B-FC16-BD4C-C6F87015DFC8}"/>
              </a:ext>
            </a:extLst>
          </p:cNvPr>
          <p:cNvSpPr txBox="1"/>
          <p:nvPr/>
        </p:nvSpPr>
        <p:spPr>
          <a:xfrm>
            <a:off x="9986245" y="5986154"/>
            <a:ext cx="197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GITSIM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F8D8308-89D8-5B69-4D4E-98EFF773AD83}"/>
              </a:ext>
            </a:extLst>
          </p:cNvPr>
          <p:cNvSpPr txBox="1"/>
          <p:nvPr/>
        </p:nvSpPr>
        <p:spPr>
          <a:xfrm>
            <a:off x="263352" y="1916832"/>
            <a:ext cx="43204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>
                <a:latin typeface="Century Gothic" panose="020B0502020202020204" pitchFamily="34" charset="0"/>
              </a:rPr>
              <a:t>L’obbiettivo di questa era quello di creare un dispositivo in grado di emulare gli encoder incrementali in modo da poter testare le </a:t>
            </a:r>
            <a:r>
              <a:rPr lang="it-IT" dirty="0" err="1">
                <a:latin typeface="Century Gothic" panose="020B0502020202020204" pitchFamily="34" charset="0"/>
              </a:rPr>
              <a:t>odometrie</a:t>
            </a:r>
            <a:r>
              <a:rPr lang="it-IT" dirty="0">
                <a:latin typeface="Century Gothic" panose="020B0502020202020204" pitchFamily="34" charset="0"/>
              </a:rPr>
              <a:t> e gli algoritmi utilizzati sulle </a:t>
            </a:r>
            <a:r>
              <a:rPr lang="it-IT" dirty="0" err="1">
                <a:latin typeface="Century Gothic" panose="020B0502020202020204" pitchFamily="34" charset="0"/>
              </a:rPr>
              <a:t>odometrie</a:t>
            </a:r>
            <a:r>
              <a:rPr lang="it-IT" dirty="0">
                <a:latin typeface="Century Gothic" panose="020B0502020202020204" pitchFamily="34" charset="0"/>
              </a:rPr>
              <a:t> in laboratorio invece che sul campo.</a:t>
            </a:r>
          </a:p>
          <a:p>
            <a:pPr algn="just"/>
            <a:endParaRPr lang="it-IT" dirty="0">
              <a:latin typeface="Century Gothic" panose="020B0502020202020204" pitchFamily="34" charset="0"/>
            </a:endParaRPr>
          </a:p>
          <a:p>
            <a:pPr algn="just"/>
            <a:r>
              <a:rPr lang="it-IT" dirty="0">
                <a:latin typeface="Century Gothic" panose="020B0502020202020204" pitchFamily="34" charset="0"/>
              </a:rPr>
              <a:t>Questo dispositivo è stato chiamato GITSIM.</a:t>
            </a:r>
          </a:p>
        </p:txBody>
      </p: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69B33BFD-E093-1294-7368-D65B71DCEF99}"/>
              </a:ext>
            </a:extLst>
          </p:cNvPr>
          <p:cNvCxnSpPr>
            <a:cxnSpLocks/>
          </p:cNvCxnSpPr>
          <p:nvPr/>
        </p:nvCxnSpPr>
        <p:spPr>
          <a:xfrm flipV="1">
            <a:off x="2280495" y="5179251"/>
            <a:ext cx="434314" cy="34042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a gomito 25">
            <a:extLst>
              <a:ext uri="{FF2B5EF4-FFF2-40B4-BE49-F238E27FC236}">
                <a16:creationId xmlns:a16="http://schemas.microsoft.com/office/drawing/2014/main" id="{4315311C-013B-66D0-A873-5614B51B0CCD}"/>
              </a:ext>
            </a:extLst>
          </p:cNvPr>
          <p:cNvCxnSpPr>
            <a:cxnSpLocks/>
          </p:cNvCxnSpPr>
          <p:nvPr/>
        </p:nvCxnSpPr>
        <p:spPr>
          <a:xfrm>
            <a:off x="2714809" y="5179251"/>
            <a:ext cx="571530" cy="35127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74496433-C404-6972-8D91-D980BDDF91FF}"/>
              </a:ext>
            </a:extLst>
          </p:cNvPr>
          <p:cNvCxnSpPr>
            <a:cxnSpLocks/>
          </p:cNvCxnSpPr>
          <p:nvPr/>
        </p:nvCxnSpPr>
        <p:spPr>
          <a:xfrm flipV="1">
            <a:off x="3259998" y="5179251"/>
            <a:ext cx="678947" cy="35127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B96B969B-946C-8A66-EAD9-9BA3D1DAB2DE}"/>
              </a:ext>
            </a:extLst>
          </p:cNvPr>
          <p:cNvCxnSpPr>
            <a:cxnSpLocks/>
          </p:cNvCxnSpPr>
          <p:nvPr/>
        </p:nvCxnSpPr>
        <p:spPr>
          <a:xfrm flipV="1">
            <a:off x="2458354" y="5753115"/>
            <a:ext cx="664175" cy="428820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Connettore a gomito 28">
            <a:extLst>
              <a:ext uri="{FF2B5EF4-FFF2-40B4-BE49-F238E27FC236}">
                <a16:creationId xmlns:a16="http://schemas.microsoft.com/office/drawing/2014/main" id="{B0A75FCD-C82A-9375-5E07-1D85C2E1F5B1}"/>
              </a:ext>
            </a:extLst>
          </p:cNvPr>
          <p:cNvCxnSpPr>
            <a:cxnSpLocks/>
          </p:cNvCxnSpPr>
          <p:nvPr/>
        </p:nvCxnSpPr>
        <p:spPr>
          <a:xfrm>
            <a:off x="3072076" y="5753115"/>
            <a:ext cx="563877" cy="439672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5947C421-373C-03F0-8CAE-9B1E65910521}"/>
              </a:ext>
            </a:extLst>
          </p:cNvPr>
          <p:cNvCxnSpPr>
            <a:cxnSpLocks/>
          </p:cNvCxnSpPr>
          <p:nvPr/>
        </p:nvCxnSpPr>
        <p:spPr>
          <a:xfrm flipV="1">
            <a:off x="3599471" y="5765970"/>
            <a:ext cx="514986" cy="432047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67348B5-0290-9BF5-343C-452902A012F9}"/>
              </a:ext>
            </a:extLst>
          </p:cNvPr>
          <p:cNvSpPr txBox="1"/>
          <p:nvPr/>
        </p:nvSpPr>
        <p:spPr>
          <a:xfrm>
            <a:off x="2205227" y="4712509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Segnale A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D2A8532-9E59-9FD9-84C6-212ABA7F52DF}"/>
              </a:ext>
            </a:extLst>
          </p:cNvPr>
          <p:cNvSpPr txBox="1"/>
          <p:nvPr/>
        </p:nvSpPr>
        <p:spPr>
          <a:xfrm>
            <a:off x="2585082" y="63594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Segnale B</a:t>
            </a:r>
          </a:p>
        </p:txBody>
      </p:sp>
      <p:pic>
        <p:nvPicPr>
          <p:cNvPr id="33" name="Immagine 32" descr="Immagine che contiene schizzo, diagramm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50F3CB5C-F00C-B232-8D16-FED04BAC7A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6" y="5037923"/>
            <a:ext cx="1973513" cy="1430383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9F258D7-13B2-94B6-18CA-E9540AD61F34}"/>
              </a:ext>
            </a:extLst>
          </p:cNvPr>
          <p:cNvSpPr txBox="1"/>
          <p:nvPr/>
        </p:nvSpPr>
        <p:spPr>
          <a:xfrm>
            <a:off x="5043972" y="4370662"/>
            <a:ext cx="4674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i="1" dirty="0"/>
              <a:t>Il GITSIM dovrebbe andare a creare gli stessi segnali che proverebbero dal sensore indicato nell’immagine soprastante</a:t>
            </a:r>
          </a:p>
        </p:txBody>
      </p:sp>
    </p:spTree>
    <p:extLst>
      <p:ext uri="{BB962C8B-B14F-4D97-AF65-F5344CB8AC3E}">
        <p14:creationId xmlns:p14="http://schemas.microsoft.com/office/powerpoint/2010/main" val="119944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8BD4-0225-73D8-6DFB-7629F5E5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8EFF304-A581-B597-B1CF-CB8AE8E33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Progetto</a:t>
            </a:r>
            <a:r>
              <a:rPr lang="en-US" sz="3600" noProof="0" dirty="0"/>
              <a:t>: </a:t>
            </a:r>
            <a:r>
              <a:rPr lang="it-IT" sz="3600" noProof="0" dirty="0"/>
              <a:t>E</a:t>
            </a:r>
            <a:r>
              <a:rPr lang="it-IT" sz="3600" dirty="0" err="1"/>
              <a:t>mulatore</a:t>
            </a:r>
            <a:r>
              <a:rPr lang="it-IT" sz="3600" dirty="0"/>
              <a:t> di encoder incrementali per</a:t>
            </a:r>
          </a:p>
          <a:p>
            <a:pPr algn="ctr"/>
            <a:r>
              <a:rPr lang="it-IT" sz="3600" dirty="0"/>
              <a:t> applicazioni ferroviarie realizzato con FPGA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4F5BB1-116E-AED8-DBC4-F476386445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/>
          <a:lstStyle/>
          <a:p>
            <a:pPr algn="just"/>
            <a:r>
              <a:rPr lang="en-US" noProof="0" dirty="0"/>
              <a:t>Per </a:t>
            </a:r>
            <a:r>
              <a:rPr lang="en-US" noProof="0" dirty="0" err="1"/>
              <a:t>questo</a:t>
            </a:r>
            <a:r>
              <a:rPr lang="en-US" noProof="0" dirty="0"/>
              <a:t> Progetto di </a:t>
            </a:r>
            <a:r>
              <a:rPr lang="en-US" noProof="0" dirty="0" err="1"/>
              <a:t>tesi</a:t>
            </a:r>
            <a:r>
              <a:rPr lang="en-US" noProof="0" dirty="0"/>
              <a:t> è </a:t>
            </a:r>
            <a:r>
              <a:rPr lang="en-US" noProof="0" dirty="0" err="1"/>
              <a:t>stato</a:t>
            </a:r>
            <a:r>
              <a:rPr lang="en-US" noProof="0" dirty="0"/>
              <a:t> </a:t>
            </a:r>
            <a:r>
              <a:rPr lang="en-US" noProof="0" dirty="0" err="1"/>
              <a:t>realizzato</a:t>
            </a:r>
            <a:r>
              <a:rPr lang="en-US" noProof="0" dirty="0"/>
              <a:t> un </a:t>
            </a:r>
            <a:r>
              <a:rPr lang="it-IT" dirty="0"/>
              <a:t>emulatore di encoder incrementali sulla board Cora-z7 prodotta da </a:t>
            </a:r>
            <a:r>
              <a:rPr lang="it-IT" dirty="0" err="1"/>
              <a:t>Digilent</a:t>
            </a:r>
            <a:r>
              <a:rPr lang="it-IT" dirty="0"/>
              <a:t>.</a:t>
            </a:r>
          </a:p>
          <a:p>
            <a:pPr algn="just"/>
            <a:r>
              <a:rPr lang="it-IT" dirty="0"/>
              <a:t>Il dispositivo chiamato GITSIM è in grado di simulare 3 encoder contemporaneamente e mostrare le caratteristiche degli encoder come velocità impulsi generati e distanza percorsa in </a:t>
            </a:r>
            <a:r>
              <a:rPr lang="it-IT" dirty="0" err="1"/>
              <a:t>real</a:t>
            </a:r>
            <a:r>
              <a:rPr lang="it-IT" dirty="0"/>
              <a:t> time.</a:t>
            </a:r>
          </a:p>
          <a:p>
            <a:pPr algn="just"/>
            <a:r>
              <a:rPr lang="it-IT" noProof="0" dirty="0"/>
              <a:t>Per incrementare le </a:t>
            </a:r>
            <a:r>
              <a:rPr lang="it-IT" dirty="0"/>
              <a:t>p</a:t>
            </a:r>
            <a:r>
              <a:rPr lang="it-IT" noProof="0" dirty="0" err="1"/>
              <a:t>erformance</a:t>
            </a:r>
            <a:r>
              <a:rPr lang="it-IT" noProof="0" dirty="0"/>
              <a:t> una parte del progetto è stata implementata in FPGA.</a:t>
            </a:r>
          </a:p>
          <a:p>
            <a:pPr algn="just"/>
            <a:r>
              <a:rPr lang="it-IT" dirty="0"/>
              <a:t>L’interfaccia Grafica è stata sviluppata in </a:t>
            </a:r>
            <a:r>
              <a:rPr lang="it-IT" dirty="0" err="1"/>
              <a:t>python</a:t>
            </a:r>
            <a:r>
              <a:rPr lang="it-IT" dirty="0"/>
              <a:t> in modo da avere un minore utilizzo di RAM rispetto a una sviluppata in </a:t>
            </a:r>
            <a:r>
              <a:rPr lang="it-IT" dirty="0" err="1"/>
              <a:t>matlab</a:t>
            </a:r>
            <a:r>
              <a:rPr lang="it-IT" dirty="0"/>
              <a:t>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79EDEFE-84C8-87A8-B0E9-A265F4180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2492896"/>
            <a:ext cx="539190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39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7714-C3AC-444F-8996-426DAD70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58B717E-17D9-0D29-00D7-06B19308F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Microcontrollore</a:t>
            </a:r>
            <a:r>
              <a:rPr lang="en-US" sz="3600" dirty="0"/>
              <a:t> o SoC (System on Chip)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8F4798-A1AA-64F7-EF93-63566301DB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/>
          <a:lstStyle/>
          <a:p>
            <a:pPr algn="just"/>
            <a:r>
              <a:rPr lang="it-IT" dirty="0"/>
              <a:t>Un microcontrollore è un processore dotato di memoria, timer, convertitori ADC e DAC, pin di I/O (paralleli) e altre periferiche tutto su un singolo chip.</a:t>
            </a:r>
          </a:p>
          <a:p>
            <a:pPr algn="just"/>
            <a:r>
              <a:rPr lang="it-IT" dirty="0"/>
              <a:t>Questa soluzione permette di diminuire costi di sviluppo e produzione, oltre che portare altri vantaggi come la facile </a:t>
            </a:r>
            <a:r>
              <a:rPr lang="it-IT" dirty="0" err="1"/>
              <a:t>aggiornabilità</a:t>
            </a:r>
            <a:r>
              <a:rPr lang="it-IT" dirty="0"/>
              <a:t>, il minor consumo energetico e migliore affidabilità rispetto a una soluzione dove i componenti non sono integrati in un unico chip.</a:t>
            </a:r>
          </a:p>
        </p:txBody>
      </p:sp>
      <p:pic>
        <p:nvPicPr>
          <p:cNvPr id="5" name="Immagine 4" descr="Immagine che contiene testo, diagramm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D78D4E9E-6E26-5D0F-4CCC-80206F12A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151" y="1813487"/>
            <a:ext cx="5304660" cy="346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02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49EF-AE8E-7A35-EDB1-A7D66B9C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7477515-FE6B-C5F7-C026-7DDFCACC7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FPGA</a:t>
            </a:r>
            <a:r>
              <a:rPr lang="en-US" sz="3600" noProof="0" dirty="0"/>
              <a:t>: </a:t>
            </a:r>
            <a:r>
              <a:rPr lang="en-US" sz="3600" noProof="0" dirty="0" err="1"/>
              <a:t>cosa</a:t>
            </a:r>
            <a:r>
              <a:rPr lang="en-US" sz="3600" noProof="0" dirty="0"/>
              <a:t> </a:t>
            </a:r>
            <a:r>
              <a:rPr lang="en-US" sz="3600" noProof="0" dirty="0" err="1"/>
              <a:t>sono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CA8427-621F-2112-7086-881EDB8A32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/>
          <a:lstStyle/>
          <a:p>
            <a:pPr algn="just"/>
            <a:r>
              <a:rPr lang="it-IT" dirty="0"/>
              <a:t>Gli FPGA(Field-</a:t>
            </a:r>
            <a:r>
              <a:rPr lang="it-IT" dirty="0" err="1"/>
              <a:t>Programmable</a:t>
            </a:r>
            <a:r>
              <a:rPr lang="it-IT" dirty="0"/>
              <a:t> Gate Array) sono chip per computer riconfigurabili che possono essere programmati per implementare qualsiasi circuito hardware digitale.</a:t>
            </a:r>
          </a:p>
          <a:p>
            <a:pPr algn="just"/>
            <a:r>
              <a:rPr lang="it-IT" dirty="0"/>
              <a:t>Gli FPGA sono costituiti da un array di diversi tipi di blocchi programmabili (logici, di I/O e altri) che possono essere interconnessi in modo flessibile tramite piste di </a:t>
            </a:r>
            <a:r>
              <a:rPr lang="it-IT" dirty="0" err="1"/>
              <a:t>routing</a:t>
            </a:r>
            <a:r>
              <a:rPr lang="it-IT" dirty="0"/>
              <a:t> prefabbricate con switch programmabili tra di loro.</a:t>
            </a:r>
          </a:p>
        </p:txBody>
      </p:sp>
      <p:pic>
        <p:nvPicPr>
          <p:cNvPr id="8" name="Immagine 7" descr="Immagine che contiene testo, schermata, Rettangolo, linea&#10;&#10;Il contenuto generato dall'IA potrebbe non essere corretto.">
            <a:extLst>
              <a:ext uri="{FF2B5EF4-FFF2-40B4-BE49-F238E27FC236}">
                <a16:creationId xmlns:a16="http://schemas.microsoft.com/office/drawing/2014/main" id="{8F904118-7CFE-34B9-CD07-40B7606C0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418" y="1340768"/>
            <a:ext cx="4435039" cy="448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7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B7E5E-5CE6-30F2-B324-AD81A768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A8D9E36-BD8F-157B-9AF1-DF064E5B43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Progetto</a:t>
            </a:r>
            <a:r>
              <a:rPr lang="en-US" sz="3600" noProof="0" dirty="0"/>
              <a:t>: </a:t>
            </a:r>
            <a:r>
              <a:rPr lang="it-IT" sz="3600" noProof="0" dirty="0" err="1"/>
              <a:t>Vivado</a:t>
            </a:r>
            <a:r>
              <a:rPr lang="it-IT" sz="3600" noProof="0" dirty="0"/>
              <a:t> e SDK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DD11A1-769D-EABF-CC2F-EC9708ED45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2" y="1305130"/>
            <a:ext cx="5304660" cy="3869731"/>
          </a:xfrm>
        </p:spPr>
        <p:txBody>
          <a:bodyPr/>
          <a:lstStyle/>
          <a:p>
            <a:pPr algn="just"/>
            <a:r>
              <a:rPr lang="it-IT" noProof="0" dirty="0"/>
              <a:t>Per lo sviluppo di questo progetto sono stati utilizzati </a:t>
            </a:r>
            <a:r>
              <a:rPr lang="it-IT" noProof="0" dirty="0" err="1"/>
              <a:t>Vivado</a:t>
            </a:r>
            <a:r>
              <a:rPr lang="it-IT" noProof="0" dirty="0"/>
              <a:t> e SDK, 2 software, forniti gratuitamente da </a:t>
            </a:r>
            <a:r>
              <a:rPr lang="it-IT" noProof="0" dirty="0" err="1"/>
              <a:t>Xilinx</a:t>
            </a:r>
            <a:r>
              <a:rPr lang="it-IT" noProof="0" dirty="0"/>
              <a:t>, ora AMD per un certa gamma di board che comprende la cora z7 (la board utilizzata per questo progetto)</a:t>
            </a:r>
            <a:endParaRPr lang="it-IT" dirty="0"/>
          </a:p>
        </p:txBody>
      </p:sp>
      <p:pic>
        <p:nvPicPr>
          <p:cNvPr id="6" name="Immagine 5" descr="Immagine che contiene testo, schermata, Parallelo, diagramma&#10;&#10;Il contenuto generato dall'IA potrebbe non essere corretto.">
            <a:extLst>
              <a:ext uri="{FF2B5EF4-FFF2-40B4-BE49-F238E27FC236}">
                <a16:creationId xmlns:a16="http://schemas.microsoft.com/office/drawing/2014/main" id="{6FFC3ADE-7AEB-5989-26D7-42BF873E14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052736"/>
            <a:ext cx="5088636" cy="3014997"/>
          </a:xfrm>
          <a:prstGeom prst="rect">
            <a:avLst/>
          </a:prstGeom>
        </p:spPr>
      </p:pic>
      <p:pic>
        <p:nvPicPr>
          <p:cNvPr id="9" name="Immagine 8" descr="Immagine che contiene testo, schermata, schermo, software&#10;&#10;Il contenuto generato dall'IA potrebbe non essere corretto.">
            <a:extLst>
              <a:ext uri="{FF2B5EF4-FFF2-40B4-BE49-F238E27FC236}">
                <a16:creationId xmlns:a16="http://schemas.microsoft.com/office/drawing/2014/main" id="{1C874B33-4B0D-95A3-F4C7-58254D1CD2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1" y="3645024"/>
            <a:ext cx="5182271" cy="305967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7986B93-F45B-027D-5E0B-6AD06AEEA59E}"/>
              </a:ext>
            </a:extLst>
          </p:cNvPr>
          <p:cNvSpPr txBox="1"/>
          <p:nvPr/>
        </p:nvSpPr>
        <p:spPr>
          <a:xfrm>
            <a:off x="8889414" y="4149080"/>
            <a:ext cx="2679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Interfaccia grafica </a:t>
            </a:r>
            <a:r>
              <a:rPr lang="it-IT" i="1" dirty="0" err="1"/>
              <a:t>Vivado</a:t>
            </a:r>
            <a:endParaRPr lang="it-IT" i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55C0F70-F5C9-BEC4-2487-86B6C6678CF4}"/>
              </a:ext>
            </a:extLst>
          </p:cNvPr>
          <p:cNvSpPr txBox="1"/>
          <p:nvPr/>
        </p:nvSpPr>
        <p:spPr>
          <a:xfrm>
            <a:off x="6003634" y="6124654"/>
            <a:ext cx="439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Interfaccia grafica SDK ( basato su </a:t>
            </a:r>
            <a:r>
              <a:rPr lang="it-IT" i="1" dirty="0" err="1"/>
              <a:t>eclipse</a:t>
            </a:r>
            <a:r>
              <a:rPr lang="it-IT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176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2D2D-B142-63DF-2E92-E8B01757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683220D-A223-D9AB-7B9B-A7CE3F2D8C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28784"/>
            <a:ext cx="11233149" cy="1128008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Progetto</a:t>
            </a:r>
            <a:r>
              <a:rPr lang="en-US" sz="3600" noProof="0" dirty="0"/>
              <a:t>: </a:t>
            </a:r>
            <a:r>
              <a:rPr lang="en-US" sz="3600" noProof="0" dirty="0" err="1"/>
              <a:t>divisione</a:t>
            </a:r>
            <a:r>
              <a:rPr lang="en-US" sz="3600" noProof="0" dirty="0"/>
              <a:t> </a:t>
            </a:r>
            <a:r>
              <a:rPr lang="en-US" sz="3600" noProof="0" dirty="0" err="1"/>
              <a:t>dei</a:t>
            </a:r>
            <a:r>
              <a:rPr lang="en-US" sz="3600" noProof="0" dirty="0"/>
              <a:t> </a:t>
            </a:r>
            <a:r>
              <a:rPr lang="en-US" sz="3600" noProof="0" dirty="0" err="1"/>
              <a:t>compiti</a:t>
            </a:r>
            <a:r>
              <a:rPr lang="en-US" sz="3600" noProof="0" dirty="0"/>
              <a:t> </a:t>
            </a:r>
            <a:r>
              <a:rPr lang="en-US" sz="3600" noProof="0" dirty="0" err="1"/>
              <a:t>tra</a:t>
            </a:r>
            <a:r>
              <a:rPr lang="en-US" sz="3600" noProof="0" dirty="0"/>
              <a:t> FPGA e</a:t>
            </a:r>
          </a:p>
          <a:p>
            <a:pPr algn="ctr"/>
            <a:r>
              <a:rPr lang="en-US" sz="3600" noProof="0"/>
              <a:t> firmware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BF42863-263A-ED40-A9E5-959C44A2E2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/>
          <a:lstStyle/>
          <a:p>
            <a:pPr algn="just"/>
            <a:r>
              <a:rPr lang="it-IT" dirty="0"/>
              <a:t>Nel progetto le formule elencate a destra, che descrivono il comportamento di un encoder, sono state implementate in FPGA riuscendo a raggiungere una risoluzione della generazione degli impulsi di 50 MHz.</a:t>
            </a:r>
          </a:p>
          <a:p>
            <a:pPr algn="just"/>
            <a:r>
              <a:rPr lang="it-IT" dirty="0"/>
              <a:t>Mentre i compiti di scambio messaggi con la GUI (cioè il personal computer dell’utilizzatore del dispositivo) e l’inizializzazione di tutte le componenti utilizzate sono state implementate in firmware, il quale ha anche una funzione di intermediario tra GUI ed FPGA.</a:t>
            </a:r>
          </a:p>
        </p:txBody>
      </p:sp>
      <p:pic>
        <p:nvPicPr>
          <p:cNvPr id="5" name="Immagine 4" descr="Immagine che contiene testo, Carattere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75C3AD43-7911-4977-4CD3-E61119DEA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1225375"/>
            <a:ext cx="4772691" cy="262926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AA52ABB-42EC-60D9-7318-6B0A160F5D96}"/>
              </a:ext>
            </a:extLst>
          </p:cNvPr>
          <p:cNvSpPr txBox="1"/>
          <p:nvPr/>
        </p:nvSpPr>
        <p:spPr>
          <a:xfrm>
            <a:off x="6423124" y="3707822"/>
            <a:ext cx="511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Formule che descrivono un encoder incrementale</a:t>
            </a:r>
          </a:p>
        </p:txBody>
      </p:sp>
      <p:pic>
        <p:nvPicPr>
          <p:cNvPr id="9" name="Immagine 8" descr="Immagine che contiene Carattere, bianco, testo, calligrafia&#10;&#10;Il contenuto generato dall'IA potrebbe non essere corretto.">
            <a:extLst>
              <a:ext uri="{FF2B5EF4-FFF2-40B4-BE49-F238E27FC236}">
                <a16:creationId xmlns:a16="http://schemas.microsoft.com/office/drawing/2014/main" id="{2DC475BB-A5E6-A91B-CDF0-7E6E8ED08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582" y="5087610"/>
            <a:ext cx="1790950" cy="581106"/>
          </a:xfrm>
          <a:prstGeom prst="rect">
            <a:avLst/>
          </a:prstGeom>
        </p:spPr>
      </p:pic>
      <p:pic>
        <p:nvPicPr>
          <p:cNvPr id="11" name="Immagine 10" descr="Immagine che contiene Carattere, bianco, tipografia, design&#10;&#10;Il contenuto generato dall'IA potrebbe non essere corretto.">
            <a:extLst>
              <a:ext uri="{FF2B5EF4-FFF2-40B4-BE49-F238E27FC236}">
                <a16:creationId xmlns:a16="http://schemas.microsoft.com/office/drawing/2014/main" id="{83D9B2EF-90BD-9E7B-DB37-8E30C40F7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976" y="5671364"/>
            <a:ext cx="1867161" cy="71447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93F0C3D-EB6A-7597-5D34-2A5A3C56C59E}"/>
              </a:ext>
            </a:extLst>
          </p:cNvPr>
          <p:cNvSpPr txBox="1"/>
          <p:nvPr/>
        </p:nvSpPr>
        <p:spPr>
          <a:xfrm>
            <a:off x="8771137" y="4911159"/>
            <a:ext cx="3093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Formule che descrivono la relazione tra velocità angolare e  posizione e tra accelerazione angolare e velocità angolare.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7B7ED1B-7FDC-CBEA-1D86-F32FDBF525E0}"/>
                  </a:ext>
                </a:extLst>
              </p:cNvPr>
              <p:cNvSpPr txBox="1"/>
              <p:nvPr/>
            </p:nvSpPr>
            <p:spPr>
              <a:xfrm>
                <a:off x="263352" y="6190368"/>
                <a:ext cx="5901616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𝑑𝑢𝑡𝑦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𝑐𝑖𝑐𝑙𝑒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𝑑𝑖𝑠𝑡𝑎𝑛𝑧𝑎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𝑝𝑒𝑟𝑐𝑜𝑟𝑠𝑎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𝑝𝑎𝑠𝑠𝑜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7B7ED1B-7FDC-CBEA-1D86-F32FDBF52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6190368"/>
                <a:ext cx="5901616" cy="390748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15575A8-5CCF-8A37-3978-61B0D8D4A860}"/>
                  </a:ext>
                </a:extLst>
              </p:cNvPr>
              <p:cNvSpPr txBox="1"/>
              <p:nvPr/>
            </p:nvSpPr>
            <p:spPr>
              <a:xfrm>
                <a:off x="655614" y="5188158"/>
                <a:ext cx="42484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𝑝𝑜𝑠𝑖𝑧𝑖𝑜𝑛𝑒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𝑎𝑛𝑔𝑜𝑙𝑎𝑟𝑒</m:t>
                      </m:r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𝑣𝑒𝑙𝑜𝑐𝑖𝑡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à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𝑎𝑛𝑔𝑜𝑙𝑎𝑟𝑒</m:t>
                      </m:r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𝑎𝑐𝑐𝑒𝑙𝑒𝑟𝑎𝑧𝑖𝑜𝑛𝑒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𝑎𝑛𝑔𝑜𝑙𝑎𝑟𝑒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15575A8-5CCF-8A37-3978-61B0D8D4A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14" y="5188158"/>
                <a:ext cx="4248472" cy="923330"/>
              </a:xfrm>
              <a:prstGeom prst="rect">
                <a:avLst/>
              </a:prstGeom>
              <a:blipFill>
                <a:blip r:embed="rId7"/>
                <a:stretch>
                  <a:fillRect b="-46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09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160EF8D-7B52-500B-6EA5-5F9B05341F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600" dirty="0"/>
              <a:t>Circuito implementato in FPGA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9AEFAB-6BF0-75E3-4773-C82D67FE40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92534" y="1268760"/>
            <a:ext cx="1867665" cy="4536504"/>
          </a:xfrm>
        </p:spPr>
        <p:txBody>
          <a:bodyPr/>
          <a:lstStyle/>
          <a:p>
            <a:r>
              <a:rPr lang="it-IT" i="1" dirty="0"/>
              <a:t>Disegno dello schema logico implementato in FPGA</a:t>
            </a:r>
          </a:p>
        </p:txBody>
      </p:sp>
      <p:pic>
        <p:nvPicPr>
          <p:cNvPr id="5" name="Immagine 4" descr="Immagine che contiene diagramma, testo, Disegno tecnico, Piano&#10;&#10;Il contenuto generato dall'IA potrebbe non essere corretto.">
            <a:extLst>
              <a:ext uri="{FF2B5EF4-FFF2-40B4-BE49-F238E27FC236}">
                <a16:creationId xmlns:a16="http://schemas.microsoft.com/office/drawing/2014/main" id="{C7996AE4-733F-12FE-0387-EDFD19061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873952"/>
            <a:ext cx="9768408" cy="549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3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50FD8-3B9D-D62E-9806-9E0C5671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FB3D8E6-9A78-3DA1-4EBD-531515114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807" y="692697"/>
            <a:ext cx="11233248" cy="648071"/>
          </a:xfrm>
        </p:spPr>
        <p:txBody>
          <a:bodyPr/>
          <a:lstStyle/>
          <a:p>
            <a:pPr algn="ctr"/>
            <a:r>
              <a:rPr lang="en-US" sz="3600" noProof="0" dirty="0"/>
              <a:t>GUI: Home</a:t>
            </a:r>
          </a:p>
        </p:txBody>
      </p:sp>
      <p:pic>
        <p:nvPicPr>
          <p:cNvPr id="5" name="Immagine 4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16BF3F79-C16F-0C09-0E50-624D608BF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56" y="1488271"/>
            <a:ext cx="6795019" cy="388145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3A6CB2B-6F39-5022-E3F8-3B0C3A1D4ECB}"/>
              </a:ext>
            </a:extLst>
          </p:cNvPr>
          <p:cNvSpPr txBox="1"/>
          <p:nvPr/>
        </p:nvSpPr>
        <p:spPr>
          <a:xfrm>
            <a:off x="630988" y="1779781"/>
            <a:ext cx="3744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La home </a:t>
            </a:r>
            <a:r>
              <a:rPr lang="en-US" dirty="0" err="1">
                <a:latin typeface="Century Gothic" panose="020B0502020202020204" pitchFamily="34" charset="0"/>
              </a:rPr>
              <a:t>permette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all’utente</a:t>
            </a:r>
            <a:r>
              <a:rPr lang="en-US" dirty="0">
                <a:latin typeface="Century Gothic" panose="020B0502020202020204" pitchFamily="34" charset="0"/>
              </a:rPr>
              <a:t> di </a:t>
            </a:r>
            <a:r>
              <a:rPr lang="en-US" dirty="0" err="1">
                <a:latin typeface="Century Gothic" panose="020B0502020202020204" pitchFamily="34" charset="0"/>
              </a:rPr>
              <a:t>scegliere</a:t>
            </a:r>
            <a:r>
              <a:rPr lang="en-US" dirty="0">
                <a:latin typeface="Century Gothic" panose="020B0502020202020204" pitchFamily="34" charset="0"/>
              </a:rPr>
              <a:t> la porta a cui è </a:t>
            </a:r>
            <a:r>
              <a:rPr lang="en-US" dirty="0" err="1">
                <a:latin typeface="Century Gothic" panose="020B0502020202020204" pitchFamily="34" charset="0"/>
              </a:rPr>
              <a:t>collegato</a:t>
            </a:r>
            <a:r>
              <a:rPr lang="en-US" dirty="0">
                <a:latin typeface="Century Gothic" panose="020B0502020202020204" pitchFamily="34" charset="0"/>
              </a:rPr>
              <a:t> il </a:t>
            </a:r>
            <a:r>
              <a:rPr lang="en-US" dirty="0" err="1">
                <a:latin typeface="Century Gothic" panose="020B0502020202020204" pitchFamily="34" charset="0"/>
              </a:rPr>
              <a:t>dispositivo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connettersi</a:t>
            </a:r>
            <a:r>
              <a:rPr lang="en-US" dirty="0">
                <a:latin typeface="Century Gothic" panose="020B0502020202020204" pitchFamily="34" charset="0"/>
              </a:rPr>
              <a:t> e </a:t>
            </a:r>
            <a:r>
              <a:rPr lang="en-US" dirty="0" err="1">
                <a:latin typeface="Century Gothic" panose="020B0502020202020204" pitchFamily="34" charset="0"/>
              </a:rPr>
              <a:t>disconnertersi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oltre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che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inserire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parametri</a:t>
            </a:r>
            <a:r>
              <a:rPr lang="en-US" dirty="0">
                <a:latin typeface="Century Gothic" panose="020B0502020202020204" pitchFamily="34" charset="0"/>
              </a:rPr>
              <a:t> del </a:t>
            </a:r>
            <a:r>
              <a:rPr lang="en-US" dirty="0" err="1">
                <a:latin typeface="Century Gothic" panose="020B0502020202020204" pitchFamily="34" charset="0"/>
              </a:rPr>
              <a:t>gruppo</a:t>
            </a:r>
            <a:r>
              <a:rPr lang="en-US" dirty="0">
                <a:latin typeface="Century Gothic" panose="020B0502020202020204" pitchFamily="34" charset="0"/>
              </a:rPr>
              <a:t> encoder-</a:t>
            </a:r>
            <a:r>
              <a:rPr lang="en-US" dirty="0" err="1">
                <a:latin typeface="Century Gothic" panose="020B0502020202020204" pitchFamily="34" charset="0"/>
              </a:rPr>
              <a:t>ruota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5277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2F16-AD13-3248-60D8-95E45E94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852AC7C-7E95-B3ED-122B-58219BBC4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7408" y="548680"/>
            <a:ext cx="11233248" cy="648071"/>
          </a:xfrm>
        </p:spPr>
        <p:txBody>
          <a:bodyPr/>
          <a:lstStyle/>
          <a:p>
            <a:pPr algn="ctr"/>
            <a:r>
              <a:rPr lang="en-US" sz="3600" noProof="0" dirty="0"/>
              <a:t>GUI: </a:t>
            </a:r>
            <a:r>
              <a:rPr lang="en-US" sz="3600" noProof="0" dirty="0" err="1"/>
              <a:t>Measurament</a:t>
            </a:r>
            <a:endParaRPr lang="en-US" sz="3600" noProof="0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F1F428A-A1B8-6011-201C-5EAA362477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7408" y="1446638"/>
            <a:ext cx="3672408" cy="3998586"/>
          </a:xfrm>
        </p:spPr>
        <p:txBody>
          <a:bodyPr>
            <a:normAutofit/>
          </a:bodyPr>
          <a:lstStyle/>
          <a:p>
            <a:r>
              <a:rPr lang="en-US" noProof="0" dirty="0"/>
              <a:t>Questa </a:t>
            </a:r>
            <a:r>
              <a:rPr lang="en-US" noProof="0" dirty="0" err="1"/>
              <a:t>pagina</a:t>
            </a:r>
            <a:r>
              <a:rPr lang="en-US" noProof="0" dirty="0"/>
              <a:t> </a:t>
            </a:r>
            <a:r>
              <a:rPr lang="en-US" noProof="0" dirty="0" err="1"/>
              <a:t>permette</a:t>
            </a:r>
            <a:r>
              <a:rPr lang="en-US" noProof="0" dirty="0"/>
              <a:t> </a:t>
            </a:r>
            <a:r>
              <a:rPr lang="en-US" dirty="0"/>
              <a:t>di fare semplice </a:t>
            </a:r>
            <a:r>
              <a:rPr lang="en-US" dirty="0" err="1"/>
              <a:t>simulazioni</a:t>
            </a:r>
            <a:r>
              <a:rPr lang="en-US" dirty="0"/>
              <a:t> </a:t>
            </a:r>
            <a:r>
              <a:rPr lang="en-US" dirty="0" err="1"/>
              <a:t>inserendo</a:t>
            </a:r>
            <a:r>
              <a:rPr lang="en-US" dirty="0"/>
              <a:t> I </a:t>
            </a:r>
            <a:r>
              <a:rPr lang="en-US" dirty="0" err="1"/>
              <a:t>valori</a:t>
            </a:r>
            <a:r>
              <a:rPr lang="en-US" dirty="0"/>
              <a:t> di </a:t>
            </a:r>
            <a:r>
              <a:rPr lang="en-US" dirty="0" err="1"/>
              <a:t>velocità</a:t>
            </a:r>
            <a:r>
              <a:rPr lang="en-US" dirty="0"/>
              <a:t> o </a:t>
            </a:r>
            <a:r>
              <a:rPr lang="en-US" dirty="0" err="1"/>
              <a:t>accelerazione</a:t>
            </a:r>
            <a:r>
              <a:rPr lang="en-US" dirty="0"/>
              <a:t> </a:t>
            </a:r>
            <a:r>
              <a:rPr lang="en-US" dirty="0" err="1"/>
              <a:t>desiderati</a:t>
            </a:r>
            <a:r>
              <a:rPr lang="en-US" dirty="0"/>
              <a:t>.</a:t>
            </a:r>
            <a:endParaRPr lang="en-US" noProof="0" dirty="0"/>
          </a:p>
          <a:p>
            <a:r>
              <a:rPr lang="en-US" noProof="0" dirty="0" err="1"/>
              <a:t>Vengono</a:t>
            </a:r>
            <a:r>
              <a:rPr lang="en-US" noProof="0" dirty="0"/>
              <a:t> </a:t>
            </a:r>
            <a:r>
              <a:rPr lang="en-US" noProof="0" dirty="0" err="1"/>
              <a:t>anche</a:t>
            </a:r>
            <a:r>
              <a:rPr lang="en-US" noProof="0" dirty="0"/>
              <a:t> </a:t>
            </a:r>
            <a:r>
              <a:rPr lang="en-US" noProof="0" dirty="0" err="1"/>
              <a:t>mostrate</a:t>
            </a:r>
            <a:r>
              <a:rPr lang="en-US" noProof="0" dirty="0"/>
              <a:t> le </a:t>
            </a:r>
            <a:r>
              <a:rPr lang="en-US" noProof="0" dirty="0" err="1"/>
              <a:t>informazioni</a:t>
            </a:r>
            <a:r>
              <a:rPr lang="en-US" noProof="0" dirty="0"/>
              <a:t> degli encoder. (v</a:t>
            </a:r>
            <a:r>
              <a:rPr lang="en-US" dirty="0" err="1"/>
              <a:t>elocità</a:t>
            </a:r>
            <a:r>
              <a:rPr lang="en-US" dirty="0"/>
              <a:t>, </a:t>
            </a:r>
            <a:r>
              <a:rPr lang="en-US" dirty="0" err="1"/>
              <a:t>distanza</a:t>
            </a:r>
            <a:r>
              <a:rPr lang="en-US" dirty="0"/>
              <a:t> </a:t>
            </a:r>
            <a:r>
              <a:rPr lang="en-US" dirty="0" err="1"/>
              <a:t>percorsa</a:t>
            </a:r>
            <a:r>
              <a:rPr lang="en-US" dirty="0"/>
              <a:t> e </a:t>
            </a:r>
            <a:r>
              <a:rPr lang="en-US" dirty="0" err="1"/>
              <a:t>impulsi</a:t>
            </a:r>
            <a:r>
              <a:rPr lang="en-US" dirty="0"/>
              <a:t> </a:t>
            </a:r>
            <a:r>
              <a:rPr lang="en-US" dirty="0" err="1"/>
              <a:t>generati</a:t>
            </a:r>
            <a:r>
              <a:rPr lang="en-US" dirty="0"/>
              <a:t>.)</a:t>
            </a:r>
          </a:p>
          <a:p>
            <a:r>
              <a:rPr lang="en-US" noProof="0" dirty="0"/>
              <a:t>Si </a:t>
            </a:r>
            <a:r>
              <a:rPr lang="en-US" noProof="0" dirty="0" err="1"/>
              <a:t>può</a:t>
            </a:r>
            <a:r>
              <a:rPr lang="en-US" noProof="0" dirty="0"/>
              <a:t> </a:t>
            </a:r>
            <a:r>
              <a:rPr lang="en-US" noProof="0" dirty="0" err="1"/>
              <a:t>scegliere</a:t>
            </a:r>
            <a:r>
              <a:rPr lang="en-US" noProof="0" dirty="0"/>
              <a:t> </a:t>
            </a:r>
            <a:r>
              <a:rPr lang="en-US" noProof="0" dirty="0" err="1"/>
              <a:t>su</a:t>
            </a:r>
            <a:r>
              <a:rPr lang="en-US" noProof="0" dirty="0"/>
              <a:t> quale encoder </a:t>
            </a:r>
            <a:r>
              <a:rPr lang="en-US" noProof="0" dirty="0" err="1"/>
              <a:t>simulare</a:t>
            </a:r>
            <a:r>
              <a:rPr lang="en-US" dirty="0"/>
              <a:t> con I </a:t>
            </a:r>
            <a:r>
              <a:rPr lang="en-US" dirty="0" err="1"/>
              <a:t>pulsanti</a:t>
            </a:r>
            <a:r>
              <a:rPr lang="en-US" dirty="0"/>
              <a:t> in basso a sinistra.</a:t>
            </a:r>
          </a:p>
          <a:p>
            <a:r>
              <a:rPr lang="en-US" noProof="0" dirty="0"/>
              <a:t>Di default </a:t>
            </a:r>
            <a:r>
              <a:rPr lang="en-US" noProof="0" dirty="0" err="1"/>
              <a:t>velocità</a:t>
            </a:r>
            <a:r>
              <a:rPr lang="en-US" noProof="0" dirty="0"/>
              <a:t> e </a:t>
            </a:r>
            <a:r>
              <a:rPr lang="en-US" noProof="0" dirty="0" err="1"/>
              <a:t>accelerazione</a:t>
            </a:r>
            <a:r>
              <a:rPr lang="en-US" noProof="0" dirty="0"/>
              <a:t> </a:t>
            </a:r>
            <a:r>
              <a:rPr lang="en-US" noProof="0" dirty="0" err="1"/>
              <a:t>sono</a:t>
            </a:r>
            <a:r>
              <a:rPr lang="en-US" noProof="0" dirty="0"/>
              <a:t> </a:t>
            </a:r>
            <a:r>
              <a:rPr lang="en-US" noProof="0" dirty="0" err="1"/>
              <a:t>impostate</a:t>
            </a:r>
            <a:r>
              <a:rPr lang="en-US" noProof="0" dirty="0"/>
              <a:t> a 0.</a:t>
            </a:r>
          </a:p>
        </p:txBody>
      </p:sp>
      <p:pic>
        <p:nvPicPr>
          <p:cNvPr id="4" name="Immagine 3" descr="Immagine che contiene testo, schermata, numero, diagramma&#10;&#10;Il contenuto generato dall'IA potrebbe non essere corretto.">
            <a:extLst>
              <a:ext uri="{FF2B5EF4-FFF2-40B4-BE49-F238E27FC236}">
                <a16:creationId xmlns:a16="http://schemas.microsoft.com/office/drawing/2014/main" id="{22EFA32D-46AC-D458-D7BC-B744D121F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848" y="1340768"/>
            <a:ext cx="7143075" cy="408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3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3E94-568D-1AE8-7AC2-2297A16EA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FB90B8E-044D-56DC-9910-08709BD50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7408" y="548680"/>
            <a:ext cx="11233248" cy="648071"/>
          </a:xfrm>
        </p:spPr>
        <p:txBody>
          <a:bodyPr/>
          <a:lstStyle/>
          <a:p>
            <a:pPr algn="ctr"/>
            <a:r>
              <a:rPr lang="en-US" sz="3600" noProof="0" dirty="0"/>
              <a:t>GUI: Curve emulation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6068C67-6251-FBB7-67A6-FC325A4F75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7408" y="1446638"/>
            <a:ext cx="3672408" cy="3998586"/>
          </a:xfrm>
        </p:spPr>
        <p:txBody>
          <a:bodyPr>
            <a:normAutofit/>
          </a:bodyPr>
          <a:lstStyle/>
          <a:p>
            <a:r>
              <a:rPr lang="en-US" noProof="0" dirty="0"/>
              <a:t>Questa </a:t>
            </a:r>
            <a:r>
              <a:rPr lang="en-US" noProof="0" dirty="0" err="1"/>
              <a:t>pagina</a:t>
            </a:r>
            <a:r>
              <a:rPr lang="en-US" noProof="0" dirty="0"/>
              <a:t> </a:t>
            </a:r>
            <a:r>
              <a:rPr lang="en-US" noProof="0" dirty="0" err="1"/>
              <a:t>permette</a:t>
            </a:r>
            <a:r>
              <a:rPr lang="en-US" noProof="0" dirty="0"/>
              <a:t> </a:t>
            </a:r>
            <a:r>
              <a:rPr lang="en-US" dirty="0"/>
              <a:t>di fare </a:t>
            </a:r>
            <a:r>
              <a:rPr lang="en-US" dirty="0" err="1"/>
              <a:t>simulare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encoder </a:t>
            </a:r>
            <a:r>
              <a:rPr lang="en-US" dirty="0" err="1"/>
              <a:t>inserendo</a:t>
            </a:r>
            <a:r>
              <a:rPr lang="en-US" dirty="0"/>
              <a:t> </a:t>
            </a:r>
            <a:r>
              <a:rPr lang="en-US" dirty="0" err="1"/>
              <a:t>traiettoie</a:t>
            </a:r>
            <a:r>
              <a:rPr lang="en-US" dirty="0"/>
              <a:t> di </a:t>
            </a:r>
            <a:r>
              <a:rPr lang="en-US" dirty="0" err="1"/>
              <a:t>velocità</a:t>
            </a:r>
            <a:r>
              <a:rPr lang="en-US" dirty="0"/>
              <a:t> o </a:t>
            </a:r>
            <a:r>
              <a:rPr lang="en-US" dirty="0" err="1"/>
              <a:t>accellerazione</a:t>
            </a:r>
            <a:r>
              <a:rPr lang="en-US" dirty="0"/>
              <a:t>. (come file excel)</a:t>
            </a:r>
            <a:endParaRPr lang="en-US" noProof="0" dirty="0"/>
          </a:p>
          <a:p>
            <a:r>
              <a:rPr lang="en-US" noProof="0" dirty="0"/>
              <a:t>Le </a:t>
            </a:r>
            <a:r>
              <a:rPr lang="en-US" noProof="0" dirty="0" err="1"/>
              <a:t>traiettorie</a:t>
            </a:r>
            <a:r>
              <a:rPr lang="en-US" noProof="0" dirty="0"/>
              <a:t> </a:t>
            </a:r>
            <a:r>
              <a:rPr lang="en-US" noProof="0" dirty="0" err="1"/>
              <a:t>vengono</a:t>
            </a:r>
            <a:r>
              <a:rPr lang="en-US" noProof="0" dirty="0"/>
              <a:t> </a:t>
            </a:r>
            <a:r>
              <a:rPr lang="en-US" noProof="0" dirty="0" err="1"/>
              <a:t>mostrate</a:t>
            </a:r>
            <a:r>
              <a:rPr lang="en-US" noProof="0" dirty="0"/>
              <a:t> a </a:t>
            </a:r>
            <a:r>
              <a:rPr lang="en-US" noProof="0" dirty="0" err="1"/>
              <a:t>schermo</a:t>
            </a:r>
            <a:r>
              <a:rPr lang="en-US" noProof="0" dirty="0"/>
              <a:t> la </a:t>
            </a:r>
            <a:r>
              <a:rPr lang="en-US" noProof="0" dirty="0" err="1"/>
              <a:t>linea</a:t>
            </a:r>
            <a:r>
              <a:rPr lang="en-US" noProof="0" dirty="0"/>
              <a:t> </a:t>
            </a:r>
            <a:r>
              <a:rPr lang="en-US" noProof="0" dirty="0" err="1"/>
              <a:t>verde</a:t>
            </a:r>
            <a:r>
              <a:rPr lang="en-US" noProof="0" dirty="0"/>
              <a:t> </a:t>
            </a:r>
            <a:r>
              <a:rPr lang="en-US" noProof="0" dirty="0" err="1"/>
              <a:t>verticale</a:t>
            </a:r>
            <a:r>
              <a:rPr lang="en-US" noProof="0" dirty="0"/>
              <a:t> indica a </a:t>
            </a:r>
            <a:r>
              <a:rPr lang="en-US" noProof="0" dirty="0" err="1"/>
              <a:t>che</a:t>
            </a:r>
            <a:r>
              <a:rPr lang="en-US" noProof="0" dirty="0"/>
              <a:t> punto della </a:t>
            </a:r>
            <a:r>
              <a:rPr lang="en-US" noProof="0" dirty="0" err="1"/>
              <a:t>simulazione</a:t>
            </a:r>
            <a:r>
              <a:rPr lang="en-US" noProof="0" dirty="0"/>
              <a:t> </a:t>
            </a:r>
            <a:r>
              <a:rPr lang="en-US" noProof="0" dirty="0" err="1"/>
              <a:t>siamo</a:t>
            </a:r>
            <a:r>
              <a:rPr lang="en-US" dirty="0"/>
              <a:t>.</a:t>
            </a:r>
          </a:p>
          <a:p>
            <a:r>
              <a:rPr lang="en-US" noProof="0" dirty="0"/>
              <a:t>Le </a:t>
            </a:r>
            <a:r>
              <a:rPr lang="en-US" noProof="0" dirty="0" err="1"/>
              <a:t>informazioni</a:t>
            </a:r>
            <a:r>
              <a:rPr lang="en-US" noProof="0" dirty="0"/>
              <a:t> degli encoder </a:t>
            </a:r>
            <a:r>
              <a:rPr lang="en-US" noProof="0" dirty="0" err="1"/>
              <a:t>si</a:t>
            </a:r>
            <a:r>
              <a:rPr lang="en-US" noProof="0" dirty="0"/>
              <a:t> </a:t>
            </a:r>
            <a:r>
              <a:rPr lang="en-US" noProof="0" dirty="0" err="1"/>
              <a:t>possono</a:t>
            </a:r>
            <a:r>
              <a:rPr lang="en-US" noProof="0" dirty="0"/>
              <a:t> </a:t>
            </a:r>
            <a:r>
              <a:rPr lang="en-US" noProof="0" dirty="0" err="1"/>
              <a:t>vedere</a:t>
            </a:r>
            <a:r>
              <a:rPr lang="en-US" noProof="0" dirty="0"/>
              <a:t> </a:t>
            </a:r>
            <a:r>
              <a:rPr lang="en-US" noProof="0" dirty="0" err="1"/>
              <a:t>nella</a:t>
            </a:r>
            <a:r>
              <a:rPr lang="en-US" noProof="0" dirty="0"/>
              <a:t> </a:t>
            </a:r>
            <a:r>
              <a:rPr lang="en-US" noProof="0" dirty="0" err="1"/>
              <a:t>pagina</a:t>
            </a:r>
            <a:r>
              <a:rPr lang="en-US" noProof="0" dirty="0"/>
              <a:t> </a:t>
            </a:r>
            <a:r>
              <a:rPr lang="en-US" noProof="0" dirty="0" err="1"/>
              <a:t>Measurament</a:t>
            </a:r>
            <a:r>
              <a:rPr lang="en-US" noProof="0" dirty="0"/>
              <a:t> </a:t>
            </a:r>
            <a:r>
              <a:rPr lang="en-US" noProof="0" dirty="0" err="1"/>
              <a:t>anche</a:t>
            </a:r>
            <a:r>
              <a:rPr lang="en-US" noProof="0" dirty="0"/>
              <a:t> </a:t>
            </a:r>
            <a:r>
              <a:rPr lang="en-US" noProof="0" dirty="0" err="1"/>
              <a:t>mentre</a:t>
            </a:r>
            <a:r>
              <a:rPr lang="en-US" noProof="0" dirty="0"/>
              <a:t> </a:t>
            </a:r>
            <a:r>
              <a:rPr lang="en-US" noProof="0" dirty="0" err="1"/>
              <a:t>si</a:t>
            </a:r>
            <a:r>
              <a:rPr lang="en-US" noProof="0" dirty="0"/>
              <a:t> </a:t>
            </a:r>
            <a:r>
              <a:rPr lang="en-US" noProof="0" dirty="0" err="1"/>
              <a:t>sta</a:t>
            </a:r>
            <a:r>
              <a:rPr lang="en-US" noProof="0" dirty="0"/>
              <a:t> </a:t>
            </a:r>
            <a:r>
              <a:rPr lang="en-US" noProof="0" dirty="0" err="1"/>
              <a:t>simulando</a:t>
            </a:r>
            <a:r>
              <a:rPr lang="en-US" noProof="0" dirty="0"/>
              <a:t>.</a:t>
            </a:r>
          </a:p>
        </p:txBody>
      </p:sp>
      <p:pic>
        <p:nvPicPr>
          <p:cNvPr id="5" name="Immagine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D45722D1-A7A9-CBE9-C900-0255EEB1A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142" y="1508192"/>
            <a:ext cx="6945175" cy="399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1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9095-F229-1F2E-F6F0-50358AD2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56461F8-F8DB-FFF2-17B0-C56DACD75F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6672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Esempio</a:t>
            </a:r>
            <a:r>
              <a:rPr lang="en-US" sz="3600" noProof="0" dirty="0"/>
              <a:t> di log: 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89277B2-320A-4A4F-F838-864AB230BF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43472" y="1556792"/>
            <a:ext cx="5184576" cy="3960440"/>
          </a:xfrm>
        </p:spPr>
        <p:txBody>
          <a:bodyPr>
            <a:normAutofit/>
          </a:bodyPr>
          <a:lstStyle/>
          <a:p>
            <a:r>
              <a:rPr lang="en-US" noProof="0" dirty="0" err="1"/>
              <a:t>Qunado</a:t>
            </a:r>
            <a:r>
              <a:rPr lang="en-US" noProof="0" dirty="0"/>
              <a:t> </a:t>
            </a:r>
            <a:r>
              <a:rPr lang="en-US" noProof="0" dirty="0" err="1"/>
              <a:t>una</a:t>
            </a:r>
            <a:r>
              <a:rPr lang="en-US" noProof="0" dirty="0"/>
              <a:t> </a:t>
            </a:r>
            <a:r>
              <a:rPr lang="en-US" noProof="0" dirty="0" err="1"/>
              <a:t>traiettoria</a:t>
            </a:r>
            <a:r>
              <a:rPr lang="en-US" noProof="0" dirty="0"/>
              <a:t> </a:t>
            </a:r>
            <a:r>
              <a:rPr lang="en-US" noProof="0" dirty="0" err="1"/>
              <a:t>viene</a:t>
            </a:r>
            <a:r>
              <a:rPr lang="en-US" noProof="0" dirty="0"/>
              <a:t> </a:t>
            </a:r>
            <a:r>
              <a:rPr lang="en-US" noProof="0" dirty="0" err="1"/>
              <a:t>simulata</a:t>
            </a:r>
            <a:r>
              <a:rPr lang="en-US" noProof="0" dirty="0"/>
              <a:t> </a:t>
            </a:r>
            <a:r>
              <a:rPr lang="en-US" noProof="0" dirty="0" err="1"/>
              <a:t>viene</a:t>
            </a:r>
            <a:r>
              <a:rPr lang="en-US" noProof="0" dirty="0"/>
              <a:t> </a:t>
            </a:r>
            <a:r>
              <a:rPr lang="en-US" noProof="0" dirty="0" err="1"/>
              <a:t>creato</a:t>
            </a:r>
            <a:r>
              <a:rPr lang="en-US" noProof="0" dirty="0"/>
              <a:t> un file di log (</a:t>
            </a:r>
            <a:r>
              <a:rPr lang="en-US" noProof="0" dirty="0" err="1"/>
              <a:t>una</a:t>
            </a:r>
            <a:r>
              <a:rPr lang="en-US" noProof="0" dirty="0"/>
              <a:t> </a:t>
            </a:r>
            <a:r>
              <a:rPr lang="en-US" noProof="0" dirty="0" err="1"/>
              <a:t>tabella</a:t>
            </a:r>
            <a:r>
              <a:rPr lang="en-US" noProof="0" dirty="0"/>
              <a:t> excel) dove </a:t>
            </a:r>
            <a:r>
              <a:rPr lang="en-US" noProof="0" dirty="0" err="1"/>
              <a:t>vengono</a:t>
            </a:r>
            <a:r>
              <a:rPr lang="en-US" noProof="0" dirty="0"/>
              <a:t> </a:t>
            </a:r>
            <a:r>
              <a:rPr lang="en-US" noProof="0" dirty="0" err="1"/>
              <a:t>inseriti</a:t>
            </a:r>
            <a:r>
              <a:rPr lang="en-US" noProof="0" dirty="0"/>
              <a:t> I </a:t>
            </a:r>
            <a:r>
              <a:rPr lang="en-US" noProof="0" dirty="0" err="1"/>
              <a:t>valori</a:t>
            </a:r>
            <a:r>
              <a:rPr lang="en-US" noProof="0" dirty="0"/>
              <a:t> di </a:t>
            </a:r>
            <a:r>
              <a:rPr lang="en-US" noProof="0" dirty="0" err="1"/>
              <a:t>velocità</a:t>
            </a:r>
            <a:r>
              <a:rPr lang="en-US" noProof="0" dirty="0"/>
              <a:t> e </a:t>
            </a:r>
            <a:r>
              <a:rPr lang="en-US" noProof="0" dirty="0" err="1"/>
              <a:t>impulsi</a:t>
            </a:r>
            <a:r>
              <a:rPr lang="en-US" noProof="0" dirty="0"/>
              <a:t> </a:t>
            </a:r>
            <a:r>
              <a:rPr lang="en-US" noProof="0" dirty="0" err="1"/>
              <a:t>generati</a:t>
            </a:r>
            <a:r>
              <a:rPr lang="en-US" noProof="0" dirty="0"/>
              <a:t> da </a:t>
            </a:r>
            <a:r>
              <a:rPr lang="en-US" noProof="0" dirty="0" err="1"/>
              <a:t>parte</a:t>
            </a:r>
            <a:r>
              <a:rPr lang="en-US" noProof="0" dirty="0"/>
              <a:t> </a:t>
            </a:r>
            <a:r>
              <a:rPr lang="en-US" noProof="0" dirty="0" err="1"/>
              <a:t>dei</a:t>
            </a:r>
            <a:r>
              <a:rPr lang="en-US" noProof="0" dirty="0"/>
              <a:t> 3 encoder.</a:t>
            </a:r>
          </a:p>
          <a:p>
            <a:r>
              <a:rPr lang="en-US" dirty="0"/>
              <a:t>I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aggiornati</a:t>
            </a:r>
            <a:r>
              <a:rPr lang="en-US" dirty="0"/>
              <a:t> ogni 50 </a:t>
            </a:r>
            <a:r>
              <a:rPr lang="en-US" dirty="0" err="1"/>
              <a:t>millisecondi</a:t>
            </a:r>
            <a:r>
              <a:rPr lang="en-US" dirty="0"/>
              <a:t>.</a:t>
            </a:r>
            <a:endParaRPr lang="en-US" noProof="0" dirty="0"/>
          </a:p>
          <a:p>
            <a:r>
              <a:rPr lang="en-US" dirty="0"/>
              <a:t>I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inseriti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log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misurati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 </a:t>
            </a:r>
            <a:r>
              <a:rPr lang="en-US" dirty="0" err="1"/>
              <a:t>dall’FPGA</a:t>
            </a:r>
            <a:r>
              <a:rPr lang="en-US" dirty="0"/>
              <a:t> e poi </a:t>
            </a:r>
            <a:r>
              <a:rPr lang="en-US" dirty="0" err="1"/>
              <a:t>inviati</a:t>
            </a:r>
            <a:r>
              <a:rPr lang="en-US" dirty="0"/>
              <a:t> alla GUI.</a:t>
            </a:r>
          </a:p>
          <a:p>
            <a:endParaRPr lang="en-US" noProof="0" dirty="0"/>
          </a:p>
        </p:txBody>
      </p:sp>
      <p:pic>
        <p:nvPicPr>
          <p:cNvPr id="4" name="Immagine 3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FF3817CE-50A5-CEB7-5C06-FC14314F8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1174602"/>
            <a:ext cx="3131995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9854-48BD-0AB0-2CA1-A6017999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8349343-417D-5216-9B98-D72D2A641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6672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Risoluzione</a:t>
            </a:r>
            <a:r>
              <a:rPr lang="en-US" sz="3600" noProof="0" dirty="0"/>
              <a:t> </a:t>
            </a:r>
            <a:r>
              <a:rPr lang="en-US" sz="3600" noProof="0" dirty="0" err="1"/>
              <a:t>problemi</a:t>
            </a:r>
            <a:r>
              <a:rPr lang="en-US" sz="3600" noProof="0" dirty="0"/>
              <a:t>: </a:t>
            </a:r>
          </a:p>
          <a:p>
            <a:pPr algn="ctr">
              <a:lnSpc>
                <a:spcPct val="100000"/>
              </a:lnSpc>
            </a:pPr>
            <a:r>
              <a:rPr lang="en-US" sz="3600" noProof="0" dirty="0" err="1"/>
              <a:t>Implementazione</a:t>
            </a:r>
            <a:r>
              <a:rPr lang="en-US" sz="3600" noProof="0" dirty="0"/>
              <a:t> di buffer per </a:t>
            </a:r>
            <a:r>
              <a:rPr lang="en-US" sz="3600" noProof="0" dirty="0" err="1"/>
              <a:t>evitare</a:t>
            </a:r>
            <a:r>
              <a:rPr lang="en-US" sz="3600" noProof="0" dirty="0"/>
              <a:t> la </a:t>
            </a:r>
            <a:r>
              <a:rPr lang="en-US" sz="3600" noProof="0" dirty="0" err="1"/>
              <a:t>perdita</a:t>
            </a:r>
            <a:r>
              <a:rPr lang="en-US" sz="3600" noProof="0" dirty="0"/>
              <a:t> di </a:t>
            </a:r>
            <a:r>
              <a:rPr lang="en-US" sz="3600" noProof="0" dirty="0" err="1"/>
              <a:t>messaggi</a:t>
            </a:r>
            <a:endParaRPr lang="en-US" sz="3600" noProof="0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FE273198-04F7-B87B-920F-1321E7AE25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3432" y="2780928"/>
            <a:ext cx="10081120" cy="316835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GUI e GITSIM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scambiano</a:t>
            </a:r>
            <a:r>
              <a:rPr lang="en-US" dirty="0"/>
              <a:t> </a:t>
            </a:r>
            <a:r>
              <a:rPr lang="en-US" dirty="0" err="1"/>
              <a:t>messaggi</a:t>
            </a:r>
            <a:r>
              <a:rPr lang="en-US" dirty="0"/>
              <a:t> con il </a:t>
            </a:r>
            <a:r>
              <a:rPr lang="en-US" dirty="0" err="1"/>
              <a:t>seguente</a:t>
            </a:r>
            <a:r>
              <a:rPr lang="en-US" dirty="0"/>
              <a:t> </a:t>
            </a:r>
            <a:r>
              <a:rPr lang="en-US" dirty="0" err="1"/>
              <a:t>protocollo</a:t>
            </a:r>
            <a:r>
              <a:rPr lang="en-US" dirty="0"/>
              <a:t>: ogni 50 </a:t>
            </a:r>
            <a:r>
              <a:rPr lang="en-US" dirty="0" err="1"/>
              <a:t>millisecondi</a:t>
            </a:r>
            <a:r>
              <a:rPr lang="en-US" dirty="0"/>
              <a:t> il GITSIM </a:t>
            </a:r>
            <a:r>
              <a:rPr lang="en-US" dirty="0" err="1"/>
              <a:t>manda</a:t>
            </a:r>
            <a:r>
              <a:rPr lang="en-US" dirty="0"/>
              <a:t> un </a:t>
            </a:r>
            <a:r>
              <a:rPr lang="en-US" dirty="0" err="1"/>
              <a:t>messaggio</a:t>
            </a:r>
            <a:r>
              <a:rPr lang="en-US" dirty="0"/>
              <a:t> alla GUI </a:t>
            </a:r>
            <a:r>
              <a:rPr lang="en-US" dirty="0" err="1"/>
              <a:t>contenente</a:t>
            </a:r>
            <a:r>
              <a:rPr lang="en-US" dirty="0"/>
              <a:t> le </a:t>
            </a:r>
            <a:r>
              <a:rPr lang="en-US" dirty="0" err="1"/>
              <a:t>informazioni</a:t>
            </a:r>
            <a:r>
              <a:rPr lang="en-US" dirty="0"/>
              <a:t> di </a:t>
            </a:r>
            <a:r>
              <a:rPr lang="en-US" dirty="0" err="1"/>
              <a:t>velocità</a:t>
            </a:r>
            <a:r>
              <a:rPr lang="en-US" dirty="0"/>
              <a:t> e </a:t>
            </a:r>
            <a:r>
              <a:rPr lang="en-US" dirty="0" err="1"/>
              <a:t>impulsi</a:t>
            </a:r>
            <a:r>
              <a:rPr lang="en-US" dirty="0"/>
              <a:t> generate. Quando la GUI </a:t>
            </a:r>
            <a:r>
              <a:rPr lang="en-US" dirty="0" err="1"/>
              <a:t>riceve</a:t>
            </a:r>
            <a:r>
              <a:rPr lang="en-US" dirty="0"/>
              <a:t> il </a:t>
            </a:r>
            <a:r>
              <a:rPr lang="en-US" dirty="0" err="1"/>
              <a:t>messaggio</a:t>
            </a:r>
            <a:r>
              <a:rPr lang="en-US" dirty="0"/>
              <a:t> </a:t>
            </a:r>
            <a:r>
              <a:rPr lang="en-US" dirty="0" err="1"/>
              <a:t>dovrebbe</a:t>
            </a:r>
            <a:r>
              <a:rPr lang="en-US" dirty="0"/>
              <a:t> </a:t>
            </a:r>
            <a:r>
              <a:rPr lang="en-US" dirty="0" err="1"/>
              <a:t>rispondere</a:t>
            </a:r>
            <a:r>
              <a:rPr lang="en-US" dirty="0"/>
              <a:t> </a:t>
            </a:r>
            <a:r>
              <a:rPr lang="en-US" dirty="0" err="1"/>
              <a:t>immediatamente</a:t>
            </a:r>
            <a:r>
              <a:rPr lang="en-US" dirty="0"/>
              <a:t> con un </a:t>
            </a:r>
            <a:r>
              <a:rPr lang="en-US" dirty="0" err="1"/>
              <a:t>messaggio</a:t>
            </a:r>
            <a:r>
              <a:rPr lang="en-US" dirty="0"/>
              <a:t> </a:t>
            </a:r>
            <a:r>
              <a:rPr lang="en-US" dirty="0" err="1"/>
              <a:t>contenente</a:t>
            </a:r>
            <a:r>
              <a:rPr lang="en-US" dirty="0"/>
              <a:t> le </a:t>
            </a:r>
            <a:r>
              <a:rPr lang="en-US" dirty="0" err="1"/>
              <a:t>istruzioni</a:t>
            </a:r>
            <a:r>
              <a:rPr lang="en-US" dirty="0"/>
              <a:t> per il GITSIM.</a:t>
            </a:r>
            <a:endParaRPr lang="en-US" noProof="0" dirty="0"/>
          </a:p>
          <a:p>
            <a:pPr algn="just"/>
            <a:endParaRPr lang="en-US" noProof="0" dirty="0"/>
          </a:p>
          <a:p>
            <a:pPr algn="just"/>
            <a:r>
              <a:rPr lang="en-US" noProof="0" dirty="0"/>
              <a:t>Per </a:t>
            </a:r>
            <a:r>
              <a:rPr lang="en-US" noProof="0" dirty="0" err="1"/>
              <a:t>evitare</a:t>
            </a:r>
            <a:r>
              <a:rPr lang="en-US" noProof="0" dirty="0"/>
              <a:t> </a:t>
            </a:r>
            <a:r>
              <a:rPr lang="en-US" noProof="0" dirty="0" err="1"/>
              <a:t>problemi</a:t>
            </a:r>
            <a:r>
              <a:rPr lang="en-US" noProof="0" dirty="0"/>
              <a:t> </a:t>
            </a:r>
            <a:r>
              <a:rPr lang="en-US" noProof="0" dirty="0" err="1"/>
              <a:t>che</a:t>
            </a:r>
            <a:r>
              <a:rPr lang="en-US" noProof="0" dirty="0"/>
              <a:t> </a:t>
            </a:r>
            <a:r>
              <a:rPr lang="en-US" noProof="0" dirty="0" err="1"/>
              <a:t>si</a:t>
            </a:r>
            <a:r>
              <a:rPr lang="en-US" noProof="0" dirty="0"/>
              <a:t> </a:t>
            </a:r>
            <a:r>
              <a:rPr lang="en-US" noProof="0" dirty="0" err="1"/>
              <a:t>possono</a:t>
            </a:r>
            <a:r>
              <a:rPr lang="en-US" noProof="0" dirty="0"/>
              <a:t> </a:t>
            </a:r>
            <a:r>
              <a:rPr lang="en-US" noProof="0" dirty="0" err="1"/>
              <a:t>generare</a:t>
            </a:r>
            <a:r>
              <a:rPr lang="en-US" noProof="0" dirty="0"/>
              <a:t> </a:t>
            </a:r>
            <a:r>
              <a:rPr lang="en-US" noProof="0" dirty="0" err="1"/>
              <a:t>dalla</a:t>
            </a:r>
            <a:r>
              <a:rPr lang="en-US" noProof="0" dirty="0"/>
              <a:t> </a:t>
            </a:r>
            <a:r>
              <a:rPr lang="en-US" noProof="0" dirty="0" err="1"/>
              <a:t>mancata</a:t>
            </a:r>
            <a:r>
              <a:rPr lang="en-US" noProof="0" dirty="0"/>
              <a:t> </a:t>
            </a:r>
            <a:r>
              <a:rPr lang="en-US" noProof="0" dirty="0" err="1"/>
              <a:t>sincronizzazione</a:t>
            </a:r>
            <a:r>
              <a:rPr lang="en-US" noProof="0" dirty="0"/>
              <a:t> </a:t>
            </a:r>
            <a:r>
              <a:rPr lang="en-US" noProof="0" dirty="0" err="1"/>
              <a:t>dei</a:t>
            </a:r>
            <a:r>
              <a:rPr lang="en-US" noProof="0" dirty="0"/>
              <a:t> </a:t>
            </a:r>
            <a:r>
              <a:rPr lang="en-US" noProof="0" dirty="0" err="1"/>
              <a:t>messaggi</a:t>
            </a:r>
            <a:r>
              <a:rPr lang="en-US" noProof="0" dirty="0"/>
              <a:t> </a:t>
            </a:r>
            <a:r>
              <a:rPr lang="en-US" noProof="0" dirty="0" err="1"/>
              <a:t>tra</a:t>
            </a:r>
            <a:r>
              <a:rPr lang="en-US" noProof="0" dirty="0"/>
              <a:t> GITSIM e GUI </a:t>
            </a:r>
            <a:r>
              <a:rPr lang="en-US" noProof="0" dirty="0" err="1"/>
              <a:t>sono</a:t>
            </a:r>
            <a:r>
              <a:rPr lang="en-US" noProof="0" dirty="0"/>
              <a:t> </a:t>
            </a:r>
            <a:r>
              <a:rPr lang="en-US" noProof="0" dirty="0" err="1"/>
              <a:t>stati</a:t>
            </a:r>
            <a:r>
              <a:rPr lang="en-US" noProof="0" dirty="0"/>
              <a:t> </a:t>
            </a:r>
            <a:r>
              <a:rPr lang="en-US" noProof="0" dirty="0" err="1"/>
              <a:t>aggiunti</a:t>
            </a:r>
            <a:r>
              <a:rPr lang="en-US" noProof="0" dirty="0"/>
              <a:t> </a:t>
            </a:r>
            <a:r>
              <a:rPr lang="en-US" noProof="0" dirty="0" err="1"/>
              <a:t>dei</a:t>
            </a:r>
            <a:r>
              <a:rPr lang="en-US" noProof="0" dirty="0"/>
              <a:t> buffer in </a:t>
            </a:r>
            <a:r>
              <a:rPr lang="en-US" noProof="0" dirty="0" err="1"/>
              <a:t>ingresso</a:t>
            </a:r>
            <a:r>
              <a:rPr lang="en-US" noProof="0" dirty="0"/>
              <a:t> e </a:t>
            </a:r>
            <a:r>
              <a:rPr lang="en-US" noProof="0" dirty="0" err="1"/>
              <a:t>uscita</a:t>
            </a:r>
            <a:r>
              <a:rPr lang="en-US" noProof="0" dirty="0"/>
              <a:t> dal GITSIM.</a:t>
            </a:r>
          </a:p>
        </p:txBody>
      </p:sp>
    </p:spTree>
    <p:extLst>
      <p:ext uri="{BB962C8B-B14F-4D97-AF65-F5344CB8AC3E}">
        <p14:creationId xmlns:p14="http://schemas.microsoft.com/office/powerpoint/2010/main" val="2897605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C789-9EF7-4343-375E-A60AD440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5469109-E1AC-9B13-6825-3108B9668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6672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 </a:t>
            </a:r>
            <a:r>
              <a:rPr lang="en-US" sz="3600" noProof="0" dirty="0" err="1"/>
              <a:t>ottenuti</a:t>
            </a:r>
            <a:endParaRPr lang="en-US" sz="3600" noProof="0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55CE71F-7A51-7B53-19A0-C90EBEA902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7210" y="1254080"/>
            <a:ext cx="10081120" cy="316835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 </a:t>
            </a:r>
            <a:r>
              <a:rPr lang="en-US" dirty="0" err="1"/>
              <a:t>prossime</a:t>
            </a:r>
            <a:r>
              <a:rPr lang="en-US" dirty="0"/>
              <a:t> slide </a:t>
            </a:r>
            <a:r>
              <a:rPr lang="en-US" dirty="0" err="1"/>
              <a:t>mostreranno</a:t>
            </a:r>
            <a:r>
              <a:rPr lang="en-US" dirty="0"/>
              <a:t> I </a:t>
            </a:r>
            <a:r>
              <a:rPr lang="en-US" dirty="0" err="1"/>
              <a:t>risultati</a:t>
            </a:r>
            <a:r>
              <a:rPr lang="en-US" dirty="0"/>
              <a:t> </a:t>
            </a:r>
            <a:r>
              <a:rPr lang="en-US" dirty="0" err="1"/>
              <a:t>ottenuti</a:t>
            </a:r>
            <a:r>
              <a:rPr lang="en-US" dirty="0"/>
              <a:t> </a:t>
            </a:r>
            <a:r>
              <a:rPr lang="en-US" dirty="0" err="1"/>
              <a:t>simulando</a:t>
            </a:r>
            <a:r>
              <a:rPr lang="en-US" dirty="0"/>
              <a:t> </a:t>
            </a:r>
            <a:r>
              <a:rPr lang="en-US" dirty="0" err="1"/>
              <a:t>alcuni</a:t>
            </a:r>
            <a:r>
              <a:rPr lang="en-US" dirty="0"/>
              <a:t> </a:t>
            </a:r>
            <a:r>
              <a:rPr lang="en-US" dirty="0" err="1"/>
              <a:t>profili</a:t>
            </a:r>
            <a:r>
              <a:rPr lang="en-US" dirty="0"/>
              <a:t> </a:t>
            </a:r>
            <a:r>
              <a:rPr lang="en-US" dirty="0" err="1"/>
              <a:t>tipici</a:t>
            </a:r>
            <a:r>
              <a:rPr lang="en-US" dirty="0"/>
              <a:t> di </a:t>
            </a:r>
            <a:r>
              <a:rPr lang="en-US" dirty="0" err="1"/>
              <a:t>velocità</a:t>
            </a:r>
            <a:r>
              <a:rPr lang="en-US" dirty="0"/>
              <a:t> e </a:t>
            </a:r>
            <a:r>
              <a:rPr lang="en-US" dirty="0" err="1"/>
              <a:t>accelerazione</a:t>
            </a:r>
            <a:r>
              <a:rPr lang="en-US" dirty="0"/>
              <a:t>.</a:t>
            </a:r>
          </a:p>
          <a:p>
            <a:pPr algn="just"/>
            <a:r>
              <a:rPr lang="en-US" noProof="0" dirty="0"/>
              <a:t>Tutti </a:t>
            </a:r>
            <a:r>
              <a:rPr lang="en-US" dirty="0"/>
              <a:t>i</a:t>
            </a:r>
            <a:r>
              <a:rPr lang="en-US" noProof="0" dirty="0"/>
              <a:t> </a:t>
            </a:r>
            <a:r>
              <a:rPr lang="en-US" noProof="0" dirty="0" err="1"/>
              <a:t>valori</a:t>
            </a:r>
            <a:r>
              <a:rPr lang="en-US" noProof="0" dirty="0"/>
              <a:t> di </a:t>
            </a:r>
            <a:r>
              <a:rPr lang="en-US" noProof="0" dirty="0" err="1"/>
              <a:t>distanza</a:t>
            </a:r>
            <a:r>
              <a:rPr lang="en-US" noProof="0" dirty="0"/>
              <a:t> </a:t>
            </a:r>
            <a:r>
              <a:rPr lang="en-US" noProof="0" dirty="0" err="1"/>
              <a:t>rappresentati</a:t>
            </a:r>
            <a:r>
              <a:rPr lang="en-US" noProof="0" dirty="0"/>
              <a:t> </a:t>
            </a:r>
            <a:r>
              <a:rPr lang="en-US" noProof="0" dirty="0" err="1"/>
              <a:t>sono</a:t>
            </a:r>
            <a:r>
              <a:rPr lang="en-US" noProof="0" dirty="0"/>
              <a:t> </a:t>
            </a:r>
            <a:r>
              <a:rPr lang="en-US" noProof="0" dirty="0" err="1"/>
              <a:t>espressi</a:t>
            </a:r>
            <a:r>
              <a:rPr lang="en-US" noProof="0" dirty="0"/>
              <a:t> in </a:t>
            </a:r>
            <a:r>
              <a:rPr lang="en-US" noProof="0" dirty="0" err="1"/>
              <a:t>metri</a:t>
            </a:r>
            <a:r>
              <a:rPr lang="en-US" noProof="0" dirty="0"/>
              <a:t>.</a:t>
            </a:r>
          </a:p>
          <a:p>
            <a:r>
              <a:rPr lang="it-IT" dirty="0"/>
              <a:t>Nelle seguenti prove è stato fatto un confronto tra numero di fronti previsti, numero di fronti generati dall’emulatore e numero di fronti rilevati dall’</a:t>
            </a:r>
            <a:r>
              <a:rPr lang="it-IT" dirty="0" err="1"/>
              <a:t>odometria</a:t>
            </a:r>
            <a:endParaRPr lang="it-IT" dirty="0"/>
          </a:p>
          <a:p>
            <a:pPr algn="just"/>
            <a:endParaRPr lang="en-US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1AD6A6F-EEA2-637B-F6F4-DF2FB3A3CB82}"/>
              </a:ext>
            </a:extLst>
          </p:cNvPr>
          <p:cNvSpPr/>
          <p:nvPr/>
        </p:nvSpPr>
        <p:spPr>
          <a:xfrm>
            <a:off x="767190" y="4293096"/>
            <a:ext cx="2448272" cy="15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Progetto geometrico del profilo</a:t>
            </a:r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5D7FFDBC-5E02-1D9A-C982-D112E3BC51D4}"/>
              </a:ext>
            </a:extLst>
          </p:cNvPr>
          <p:cNvSpPr/>
          <p:nvPr/>
        </p:nvSpPr>
        <p:spPr>
          <a:xfrm>
            <a:off x="3215462" y="4869160"/>
            <a:ext cx="1584176" cy="3600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374075E-A1FA-D159-E309-E9FF398E4D6B}"/>
              </a:ext>
            </a:extLst>
          </p:cNvPr>
          <p:cNvSpPr/>
          <p:nvPr/>
        </p:nvSpPr>
        <p:spPr>
          <a:xfrm>
            <a:off x="4799638" y="4329100"/>
            <a:ext cx="2376264" cy="15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Emulatore di impulsi tachimetrici (GITSIM)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D98B950-FC4A-B718-5669-E0FA695E0FA9}"/>
              </a:ext>
            </a:extLst>
          </p:cNvPr>
          <p:cNvSpPr/>
          <p:nvPr/>
        </p:nvSpPr>
        <p:spPr>
          <a:xfrm>
            <a:off x="8976320" y="4293096"/>
            <a:ext cx="2592288" cy="15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Odometria</a:t>
            </a:r>
            <a:r>
              <a:rPr lang="it-IT" dirty="0"/>
              <a:t> a bordo treno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54A5C7D-5DA5-6142-7CB5-CBFDA630142E}"/>
              </a:ext>
            </a:extLst>
          </p:cNvPr>
          <p:cNvCxnSpPr/>
          <p:nvPr/>
        </p:nvCxnSpPr>
        <p:spPr>
          <a:xfrm>
            <a:off x="7175902" y="4437112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9648D6F-FB35-9A59-9273-9B090402E8A7}"/>
              </a:ext>
            </a:extLst>
          </p:cNvPr>
          <p:cNvCxnSpPr>
            <a:cxnSpLocks/>
          </p:cNvCxnSpPr>
          <p:nvPr/>
        </p:nvCxnSpPr>
        <p:spPr>
          <a:xfrm>
            <a:off x="7175902" y="4581128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966B174-9E40-26BF-0B34-61258A9259E6}"/>
              </a:ext>
            </a:extLst>
          </p:cNvPr>
          <p:cNvCxnSpPr/>
          <p:nvPr/>
        </p:nvCxnSpPr>
        <p:spPr>
          <a:xfrm>
            <a:off x="7175902" y="4941168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C7B25E60-6B5B-4F28-BBF5-4FC1C203D6F6}"/>
              </a:ext>
            </a:extLst>
          </p:cNvPr>
          <p:cNvCxnSpPr/>
          <p:nvPr/>
        </p:nvCxnSpPr>
        <p:spPr>
          <a:xfrm>
            <a:off x="7175902" y="5085184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9BC1E72-F0BF-BB0A-AFCD-C5BAD597A061}"/>
              </a:ext>
            </a:extLst>
          </p:cNvPr>
          <p:cNvCxnSpPr/>
          <p:nvPr/>
        </p:nvCxnSpPr>
        <p:spPr>
          <a:xfrm>
            <a:off x="7175902" y="5589240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6F6CC60-0A7B-0015-3629-FAB6B25F34DB}"/>
              </a:ext>
            </a:extLst>
          </p:cNvPr>
          <p:cNvCxnSpPr/>
          <p:nvPr/>
        </p:nvCxnSpPr>
        <p:spPr>
          <a:xfrm>
            <a:off x="7175902" y="5733256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Fumetto: rettangolo 21">
            <a:extLst>
              <a:ext uri="{FF2B5EF4-FFF2-40B4-BE49-F238E27FC236}">
                <a16:creationId xmlns:a16="http://schemas.microsoft.com/office/drawing/2014/main" id="{22ED5045-2C4B-BB5F-E217-8C270BBE928A}"/>
              </a:ext>
            </a:extLst>
          </p:cNvPr>
          <p:cNvSpPr/>
          <p:nvPr/>
        </p:nvSpPr>
        <p:spPr>
          <a:xfrm>
            <a:off x="2855640" y="3533690"/>
            <a:ext cx="3024554" cy="630069"/>
          </a:xfrm>
          <a:prstGeom prst="wedgeRectCallout">
            <a:avLst>
              <a:gd name="adj1" fmla="val -20568"/>
              <a:gd name="adj2" fmla="val 1605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Dati di velocità o accelerazione da emulare</a:t>
            </a:r>
          </a:p>
        </p:txBody>
      </p:sp>
      <p:sp>
        <p:nvSpPr>
          <p:cNvPr id="23" name="Fumetto: rettangolo 22">
            <a:extLst>
              <a:ext uri="{FF2B5EF4-FFF2-40B4-BE49-F238E27FC236}">
                <a16:creationId xmlns:a16="http://schemas.microsoft.com/office/drawing/2014/main" id="{D3B3C035-052B-608F-43B1-8E0A4B8EF360}"/>
              </a:ext>
            </a:extLst>
          </p:cNvPr>
          <p:cNvSpPr/>
          <p:nvPr/>
        </p:nvSpPr>
        <p:spPr>
          <a:xfrm>
            <a:off x="7169006" y="3533690"/>
            <a:ext cx="2324019" cy="630069"/>
          </a:xfrm>
          <a:prstGeom prst="wedgeRectCallout">
            <a:avLst>
              <a:gd name="adj1" fmla="val -20833"/>
              <a:gd name="adj2" fmla="val 8541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Impulsi generati</a:t>
            </a:r>
          </a:p>
          <a:p>
            <a:pPr algn="ctr"/>
            <a:r>
              <a:rPr lang="it-IT" dirty="0"/>
              <a:t>(3 diversi encoder) </a:t>
            </a:r>
          </a:p>
        </p:txBody>
      </p:sp>
      <p:sp>
        <p:nvSpPr>
          <p:cNvPr id="24" name="Freccia in giù 23">
            <a:extLst>
              <a:ext uri="{FF2B5EF4-FFF2-40B4-BE49-F238E27FC236}">
                <a16:creationId xmlns:a16="http://schemas.microsoft.com/office/drawing/2014/main" id="{DCBD98C4-A782-8C63-8823-D409649B35C0}"/>
              </a:ext>
            </a:extLst>
          </p:cNvPr>
          <p:cNvSpPr/>
          <p:nvPr/>
        </p:nvSpPr>
        <p:spPr>
          <a:xfrm>
            <a:off x="1487270" y="5805264"/>
            <a:ext cx="1008112" cy="28803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F09A6286-E108-CC79-6AA1-7B30DA1A4636}"/>
              </a:ext>
            </a:extLst>
          </p:cNvPr>
          <p:cNvSpPr/>
          <p:nvPr/>
        </p:nvSpPr>
        <p:spPr>
          <a:xfrm>
            <a:off x="5483714" y="5852625"/>
            <a:ext cx="1008112" cy="28803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in giù 25">
            <a:extLst>
              <a:ext uri="{FF2B5EF4-FFF2-40B4-BE49-F238E27FC236}">
                <a16:creationId xmlns:a16="http://schemas.microsoft.com/office/drawing/2014/main" id="{A6E47440-6215-5013-2E9E-8BEC17592652}"/>
              </a:ext>
            </a:extLst>
          </p:cNvPr>
          <p:cNvSpPr/>
          <p:nvPr/>
        </p:nvSpPr>
        <p:spPr>
          <a:xfrm>
            <a:off x="9840416" y="5805264"/>
            <a:ext cx="1008112" cy="28803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8A2544D-6198-1FE5-3A01-54F8A1650CA3}"/>
              </a:ext>
            </a:extLst>
          </p:cNvPr>
          <p:cNvSpPr txBox="1"/>
          <p:nvPr/>
        </p:nvSpPr>
        <p:spPr>
          <a:xfrm>
            <a:off x="1016932" y="6196662"/>
            <a:ext cx="1602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Impulsi teorici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995F80A-FAD3-B563-98AB-4E863264F247}"/>
              </a:ext>
            </a:extLst>
          </p:cNvPr>
          <p:cNvSpPr txBox="1"/>
          <p:nvPr/>
        </p:nvSpPr>
        <p:spPr>
          <a:xfrm>
            <a:off x="4240492" y="6168987"/>
            <a:ext cx="382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Impulsi generati e riportati da GITSIM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61F6715-69DC-5024-4BE2-53F9D7633A2C}"/>
              </a:ext>
            </a:extLst>
          </p:cNvPr>
          <p:cNvSpPr txBox="1"/>
          <p:nvPr/>
        </p:nvSpPr>
        <p:spPr>
          <a:xfrm>
            <a:off x="8976148" y="6140657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Impulsi letti da </a:t>
            </a:r>
            <a:r>
              <a:rPr lang="it-IT" dirty="0" err="1"/>
              <a:t>odometria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1073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12DDB-9223-4BAD-803D-D332F553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FB6D940-84DD-E280-9354-FF79A03E46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BECAA653-DB2E-8452-6DC2-990143EE0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95689"/>
              </p:ext>
            </p:extLst>
          </p:nvPr>
        </p:nvGraphicFramePr>
        <p:xfrm>
          <a:off x="479424" y="4365104"/>
          <a:ext cx="10900512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128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725128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725128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725128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6240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499,997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500,004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pic>
        <p:nvPicPr>
          <p:cNvPr id="11" name="Immagine 10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17E44CA-7F2C-A1DC-0115-697720CBB2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1052736"/>
            <a:ext cx="5571970" cy="31822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EBA5500-7CDF-F742-F278-03C309703620}"/>
              </a:ext>
            </a:extLst>
          </p:cNvPr>
          <p:cNvSpPr txBox="1"/>
          <p:nvPr/>
        </p:nvSpPr>
        <p:spPr>
          <a:xfrm>
            <a:off x="839416" y="1484784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n.1 </a:t>
            </a:r>
          </a:p>
          <a:p>
            <a:r>
              <a:rPr lang="it-IT" b="1" dirty="0"/>
              <a:t>Tratta di 500 metri percorsa a velocità lenta</a:t>
            </a:r>
          </a:p>
          <a:p>
            <a:r>
              <a:rPr lang="it-IT" dirty="0"/>
              <a:t>Accelerazione e decelerazione costante con velocità massima 10 metri al secondo. </a:t>
            </a:r>
          </a:p>
        </p:txBody>
      </p:sp>
    </p:spTree>
    <p:extLst>
      <p:ext uri="{BB962C8B-B14F-4D97-AF65-F5344CB8AC3E}">
        <p14:creationId xmlns:p14="http://schemas.microsoft.com/office/powerpoint/2010/main" val="2814052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1350-8E14-EC34-8A5D-1D7C7A02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D1F0478-AD47-EFF2-29D2-6C4058D58A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BC400A4-782F-55E8-B0F4-AA41597F7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779334"/>
              </p:ext>
            </p:extLst>
          </p:nvPr>
        </p:nvGraphicFramePr>
        <p:xfrm>
          <a:off x="479424" y="4365104"/>
          <a:ext cx="11017176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294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754294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754294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754294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6240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3’259’493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20’000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20’000,03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20’000,038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pic>
        <p:nvPicPr>
          <p:cNvPr id="8" name="Immagine 7">
            <a:extLst>
              <a:ext uri="{FF2B5EF4-FFF2-40B4-BE49-F238E27FC236}">
                <a16:creationId xmlns:a16="http://schemas.microsoft.com/office/drawing/2014/main" id="{6B46AD6B-AACB-1C4B-191E-64C741BF83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811" y="1340768"/>
            <a:ext cx="5020507" cy="288032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E3AD93-E984-BBF9-A26F-F2CC1998E858}"/>
              </a:ext>
            </a:extLst>
          </p:cNvPr>
          <p:cNvSpPr txBox="1"/>
          <p:nvPr/>
        </p:nvSpPr>
        <p:spPr>
          <a:xfrm>
            <a:off x="775834" y="1556792"/>
            <a:ext cx="44560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n.2</a:t>
            </a:r>
          </a:p>
          <a:p>
            <a:r>
              <a:rPr lang="it-IT" b="1" dirty="0"/>
              <a:t>Tratta di 20 km con velocità massima di 360 km/h</a:t>
            </a:r>
          </a:p>
          <a:p>
            <a:r>
              <a:rPr lang="it-IT" dirty="0"/>
              <a:t>Accelerazione e decelerazione( 0,5m/s</a:t>
            </a:r>
            <a:r>
              <a:rPr lang="it-IT" baseline="30000" dirty="0"/>
              <a:t>2</a:t>
            </a:r>
            <a:r>
              <a:rPr lang="it-IT" dirty="0"/>
              <a:t> e -0,8m/s</a:t>
            </a:r>
            <a:r>
              <a:rPr lang="it-IT" baseline="30000" dirty="0"/>
              <a:t>2)</a:t>
            </a:r>
            <a:r>
              <a:rPr lang="it-IT" dirty="0"/>
              <a:t> costante con velocità massima 100 metri al secondo. </a:t>
            </a:r>
          </a:p>
        </p:txBody>
      </p:sp>
    </p:spTree>
    <p:extLst>
      <p:ext uri="{BB962C8B-B14F-4D97-AF65-F5344CB8AC3E}">
        <p14:creationId xmlns:p14="http://schemas.microsoft.com/office/powerpoint/2010/main" val="387552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62F3-20C2-0DB1-3588-ADB35C85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1DCD411-5CCD-FB9B-1931-707DEE526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FDD6FF0-09A6-8C90-8468-1D29B7D9C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50810"/>
              </p:ext>
            </p:extLst>
          </p:nvPr>
        </p:nvGraphicFramePr>
        <p:xfrm>
          <a:off x="479424" y="4669147"/>
          <a:ext cx="11305208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302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785,40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785,40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785,43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10D3F408-30B3-F553-BFB0-EA72ACC25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037" y="1123466"/>
            <a:ext cx="5988798" cy="3429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4ED03B4-0497-7AD6-FA55-BB6B135903AA}"/>
              </a:ext>
            </a:extLst>
          </p:cNvPr>
          <p:cNvSpPr txBox="1"/>
          <p:nvPr/>
        </p:nvSpPr>
        <p:spPr>
          <a:xfrm>
            <a:off x="839416" y="1484784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n.3</a:t>
            </a:r>
          </a:p>
          <a:p>
            <a:r>
              <a:rPr lang="it-IT" dirty="0"/>
              <a:t>Velocità con forma sinusoidale</a:t>
            </a:r>
          </a:p>
        </p:txBody>
      </p:sp>
    </p:spTree>
    <p:extLst>
      <p:ext uri="{BB962C8B-B14F-4D97-AF65-F5344CB8AC3E}">
        <p14:creationId xmlns:p14="http://schemas.microsoft.com/office/powerpoint/2010/main" val="386145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367B-A16E-604C-81E1-1E47F987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7C38770-6350-13B4-1930-C31730CBC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EFE7A230-B2E4-61E9-4103-1948F79EC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146507"/>
              </p:ext>
            </p:extLst>
          </p:nvPr>
        </p:nvGraphicFramePr>
        <p:xfrm>
          <a:off x="479424" y="4669147"/>
          <a:ext cx="11305208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302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2000,002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2000,01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01D5E758-402A-1ABA-65C0-BD23C3936E11}"/>
              </a:ext>
            </a:extLst>
          </p:cNvPr>
          <p:cNvSpPr txBox="1"/>
          <p:nvPr/>
        </p:nvSpPr>
        <p:spPr>
          <a:xfrm>
            <a:off x="821024" y="1114121"/>
            <a:ext cx="4759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n.4</a:t>
            </a:r>
          </a:p>
          <a:p>
            <a:r>
              <a:rPr lang="it-IT" b="1" dirty="0"/>
              <a:t>(es. di ingresso a strappi in grande stazione)</a:t>
            </a:r>
          </a:p>
          <a:p>
            <a:r>
              <a:rPr lang="it-IT" dirty="0"/>
              <a:t>Curva «Ricciardi» 1m/s^2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18F24B8-0889-A0F0-147F-FD8AC0BA6290}"/>
              </a:ext>
            </a:extLst>
          </p:cNvPr>
          <p:cNvSpPr txBox="1"/>
          <p:nvPr/>
        </p:nvSpPr>
        <p:spPr>
          <a:xfrm>
            <a:off x="953634" y="3907662"/>
            <a:ext cx="3030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Profilo di velocità della curva</a:t>
            </a:r>
          </a:p>
        </p:txBody>
      </p:sp>
      <p:pic>
        <p:nvPicPr>
          <p:cNvPr id="10" name="Immagine 9" descr="Immagine che contiene testo, schermata, numero, Diagramma&#10;&#10;Il contenuto generato dall'IA potrebbe non essere corretto.">
            <a:extLst>
              <a:ext uri="{FF2B5EF4-FFF2-40B4-BE49-F238E27FC236}">
                <a16:creationId xmlns:a16="http://schemas.microsoft.com/office/drawing/2014/main" id="{A45331B4-977D-F0CF-7C8F-30E535CD4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869" y="1123466"/>
            <a:ext cx="5862763" cy="3361715"/>
          </a:xfrm>
          <a:prstGeom prst="rect">
            <a:avLst/>
          </a:prstGeom>
        </p:spPr>
      </p:pic>
      <p:pic>
        <p:nvPicPr>
          <p:cNvPr id="14" name="Immagine 13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4BFD8B8F-803B-F36D-3799-B69903DEC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24" y="2094258"/>
            <a:ext cx="4759246" cy="175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43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6B2A-6E91-7E14-E7E0-9E9BB59F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21B3E3D-376F-E558-70F8-FD9CFF36D7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2CA2279-F95C-5B28-2E49-53096B866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446074"/>
              </p:ext>
            </p:extLst>
          </p:nvPr>
        </p:nvGraphicFramePr>
        <p:xfrm>
          <a:off x="443395" y="4004706"/>
          <a:ext cx="11305208" cy="278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302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410317">
                <a:tc>
                  <a:txBody>
                    <a:bodyPr/>
                    <a:lstStyle/>
                    <a:p>
                      <a:r>
                        <a:rPr lang="it-IT" dirty="0"/>
                        <a:t>Impulsi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Impulsi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r>
                        <a:rPr lang="it-IT" dirty="0"/>
                        <a:t>Distanza percorsa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509,999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510,008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2749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r>
                        <a:rPr lang="it-IT" dirty="0"/>
                        <a:t>Distanza percorsa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499,997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500,005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44704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r>
                        <a:rPr lang="it-IT" dirty="0"/>
                        <a:t>Distanza calcolata dall’algoritmo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500,190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210895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14504535-0A5E-0E24-511A-89C6BA5378F1}"/>
              </a:ext>
            </a:extLst>
          </p:cNvPr>
          <p:cNvSpPr txBox="1"/>
          <p:nvPr/>
        </p:nvSpPr>
        <p:spPr>
          <a:xfrm>
            <a:off x="561571" y="1268760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n.5</a:t>
            </a:r>
          </a:p>
          <a:p>
            <a:r>
              <a:rPr lang="it-IT" dirty="0">
                <a:latin typeface="Century Gothic" panose="020B0502020202020204" pitchFamily="34" charset="0"/>
              </a:rPr>
              <a:t>Caso di slittamento di una delle ruote simulate</a:t>
            </a:r>
          </a:p>
        </p:txBody>
      </p:sp>
      <p:pic>
        <p:nvPicPr>
          <p:cNvPr id="9" name="Immagine 8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03012298-6045-5CE9-70AE-F496B5ABB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56" y="1268760"/>
            <a:ext cx="7237263" cy="269988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B144F27-02DD-730B-855D-A1F720726185}"/>
              </a:ext>
            </a:extLst>
          </p:cNvPr>
          <p:cNvSpPr txBox="1"/>
          <p:nvPr/>
        </p:nvSpPr>
        <p:spPr>
          <a:xfrm>
            <a:off x="537653" y="2228153"/>
            <a:ext cx="396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Una delle applicazioni di questo dispositivo è poter testare algoritmi delle </a:t>
            </a:r>
            <a:r>
              <a:rPr lang="it-IT" dirty="0" err="1">
                <a:latin typeface="Century Gothic" panose="020B0502020202020204" pitchFamily="34" charset="0"/>
              </a:rPr>
              <a:t>odometrie</a:t>
            </a:r>
            <a:r>
              <a:rPr lang="it-IT" dirty="0">
                <a:latin typeface="Century Gothic" panose="020B0502020202020204" pitchFamily="34" charset="0"/>
              </a:rPr>
              <a:t> usati per rilevare situazioni di slittamento o pattinamento</a:t>
            </a:r>
          </a:p>
        </p:txBody>
      </p:sp>
    </p:spTree>
    <p:extLst>
      <p:ext uri="{BB962C8B-B14F-4D97-AF65-F5344CB8AC3E}">
        <p14:creationId xmlns:p14="http://schemas.microsoft.com/office/powerpoint/2010/main" val="2105046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A1443E4-556C-3FD5-9227-EE8E2CD39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600" dirty="0"/>
              <a:t>Demo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F23686-65F3-E892-C2D8-63ADB07B0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4" name="Registrazione dello schermo 2025-12-01 112420">
            <a:hlinkClick r:id="" action="ppaction://media"/>
            <a:extLst>
              <a:ext uri="{FF2B5EF4-FFF2-40B4-BE49-F238E27FC236}">
                <a16:creationId xmlns:a16="http://schemas.microsoft.com/office/drawing/2014/main" id="{01BBBA79-0F78-1E1D-71E4-6BCA1DC18C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19536" y="1001317"/>
            <a:ext cx="8828038" cy="504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2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547A-5C7C-2143-98F5-66F423D5E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FE3889D-3F36-D84B-6B4F-BE13816D1D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/>
              <a:t>Grazie per </a:t>
            </a:r>
            <a:r>
              <a:rPr lang="en-US" sz="3600" dirty="0" err="1"/>
              <a:t>l’attenzione</a:t>
            </a:r>
            <a:endParaRPr lang="en-US" sz="3600" noProof="0" dirty="0"/>
          </a:p>
        </p:txBody>
      </p:sp>
    </p:spTree>
    <p:extLst>
      <p:ext uri="{BB962C8B-B14F-4D97-AF65-F5344CB8AC3E}">
        <p14:creationId xmlns:p14="http://schemas.microsoft.com/office/powerpoint/2010/main" val="2098721998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b="1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DIAPOSITIV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IUSURA">
  <a:themeElements>
    <a:clrScheme name="Personalizzat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EEEC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C5A350B8B864FA4BB6364DB87AFA5" ma:contentTypeVersion="15" ma:contentTypeDescription="Create a new document." ma:contentTypeScope="" ma:versionID="34d566daff8b0037b426a74a4d7fc681">
  <xsd:schema xmlns:xsd="http://www.w3.org/2001/XMLSchema" xmlns:xs="http://www.w3.org/2001/XMLSchema" xmlns:p="http://schemas.microsoft.com/office/2006/metadata/properties" xmlns:ns3="fe3a730e-302a-4df5-bd37-d9344ad5dd39" xmlns:ns4="59517204-b887-420f-893f-e0f09dd2c946" targetNamespace="http://schemas.microsoft.com/office/2006/metadata/properties" ma:root="true" ma:fieldsID="3f77963689b1713906672c0b2954bae2" ns3:_="" ns4:_="">
    <xsd:import namespace="fe3a730e-302a-4df5-bd37-d9344ad5dd39"/>
    <xsd:import namespace="59517204-b887-420f-893f-e0f09dd2c94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3a730e-302a-4df5-bd37-d9344ad5d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517204-b887-420f-893f-e0f09dd2c94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3a730e-302a-4df5-bd37-d9344ad5dd3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205914-E1C6-45D1-B69A-24424D8B67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3a730e-302a-4df5-bd37-d9344ad5dd39"/>
    <ds:schemaRef ds:uri="59517204-b887-420f-893f-e0f09dd2c9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8921CB-4A39-43FF-9D82-B95650BF5EEB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fe3a730e-302a-4df5-bd37-d9344ad5dd39"/>
    <ds:schemaRef ds:uri="http://purl.org/dc/elements/1.1/"/>
    <ds:schemaRef ds:uri="59517204-b887-420f-893f-e0f09dd2c946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F431BF4-003A-420A-9F86-DCB5B4D2A5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6079</TotalTime>
  <Words>1345</Words>
  <Application>Microsoft Office PowerPoint</Application>
  <PresentationFormat>Widescreen</PresentationFormat>
  <Paragraphs>194</Paragraphs>
  <Slides>23</Slides>
  <Notes>7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23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Cambria Math</vt:lpstr>
      <vt:lpstr>Century Gothic</vt:lpstr>
      <vt:lpstr>Courier New</vt:lpstr>
      <vt:lpstr>Wingdings</vt:lpstr>
      <vt:lpstr>COPERTINA</vt:lpstr>
      <vt:lpstr>DIAPOSITIVE</vt:lpstr>
      <vt:lpstr>CHIUSURA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Bologna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Samuele Pilati - samuele.pilati@studio.unibo.it</cp:lastModifiedBy>
  <cp:revision>172</cp:revision>
  <cp:lastPrinted>2025-10-05T14:34:01Z</cp:lastPrinted>
  <dcterms:created xsi:type="dcterms:W3CDTF">2017-11-13T10:11:35Z</dcterms:created>
  <dcterms:modified xsi:type="dcterms:W3CDTF">2025-12-02T15:36:25Z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0x010100E00C5A350B8B864FA4BB6364DB87AFA5</vt:lpwstr>
  </property>
</Properties>
</file>